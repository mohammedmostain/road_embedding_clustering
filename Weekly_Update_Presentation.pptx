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601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Can Satellite Imagery Improve
Traffic Volume Prediction?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AE9FF"/>
                </a:solidFill>
              </a:rPr>
              <a:t>Weekly Research Update  —  March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AE9FF"/>
                </a:solidFill>
              </a:rPr>
              <a:t>Mohammed Mostain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AE9FF"/>
                </a:solidFill>
              </a:rPr>
              <a:t>Dataset: 726 road segments  |  Ottawa region  |  AAWDT as target variable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I Did 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  Clustered 726 road segments using their satellite images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47088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  Tested 3 clustering methods: K-Means, HDBSCAN, and GMM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414015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  Compared each cluster set against Road Class for predicting AAWDT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80944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  Ran a sweep to find the optimal number of clusters per 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54787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FFFFFF"/>
                </a:solidFill>
              </a:rPr>
              <a:t>•   Checked whether results are stable (sensitivity analysis)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FFD166"/>
                </a:solidFill>
              </a:rPr>
              <a:t>Core question: do road segments that look similar from satellite also have similar traffic volumes?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How It Works  (Plain Language)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502920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50876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234440"/>
            <a:ext cx="10515600" cy="109728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28016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Satellite image → 512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69164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 pre-trained AI model converts each road's satellite image into a list of 512 numbers
that capture what the road and its surroundings look like.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60320"/>
            <a:ext cx="502920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834639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51560" y="2560320"/>
            <a:ext cx="10515600" cy="109728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2606039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Reduce to 20 dimensions (UMAP)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01752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512 numbers is too many to cluster directly — distances become meaningless.
UMAP compresses them to 20 while preserving which roads look similar.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86200"/>
            <a:ext cx="502920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4160520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3886200"/>
            <a:ext cx="10515600" cy="109728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88720" y="3931920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Group similar roads  (Clustering)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343400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Roads that look alike end up in the same cluster.
Three algorithms tested — each finds groups differently.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12079"/>
            <a:ext cx="502920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486399"/>
            <a:ext cx="502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A1A2E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5212079"/>
            <a:ext cx="10515600" cy="109728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88720" y="5257799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Test prediction quality  (XGBoost)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69279"/>
            <a:ext cx="102412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Add cluster labels as features to a traffic prediction model.
Measure R² improvement vs using Road Class alone.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What the Clusters Look Like</a:t>
            </a:r>
          </a:p>
        </p:txBody>
      </p:sp>
      <p:pic>
        <p:nvPicPr>
          <p:cNvPr id="5" name="Picture 4" descr="03_umap_kmeans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834640" cy="2468880"/>
          </a:xfrm>
          <a:prstGeom prst="rect">
            <a:avLst/>
          </a:prstGeom>
        </p:spPr>
      </p:pic>
      <p:pic>
        <p:nvPicPr>
          <p:cNvPr id="6" name="Picture 5" descr="04_umap_aawd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188720"/>
            <a:ext cx="2834640" cy="2468880"/>
          </a:xfrm>
          <a:prstGeom prst="rect">
            <a:avLst/>
          </a:prstGeom>
        </p:spPr>
      </p:pic>
      <p:pic>
        <p:nvPicPr>
          <p:cNvPr id="7" name="Picture 6" descr="07_bar_kme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88720"/>
            <a:ext cx="5669280" cy="2468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74903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E9FF"/>
                </a:solidFill>
              </a:rPr>
              <a:t>K-Means clusters (left) — each dot is a road segment.
Proximity = visual similarity.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3749039"/>
            <a:ext cx="2834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E9FF"/>
                </a:solidFill>
              </a:rPr>
              <a:t>Same map coloured by AAWDT.
Higher traffic = warmer colour.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3749039"/>
            <a:ext cx="5669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CAE9FF"/>
                </a:solidFill>
              </a:rPr>
              <a:t>Mean AAWDT per cluster.
Clusters do separate roads by traffic volume.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937760"/>
            <a:ext cx="112745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D166"/>
                </a:solidFill>
              </a:rPr>
              <a:t>Key observation: satellite image clusters align with traffic volume — roads that look similar tend to carry similar traffic.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6400800" cy="45720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6309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R² (higher = better AAWDT prediction)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783080"/>
            <a:ext cx="6309360" cy="594360"/>
          </a:xfrm>
          <a:prstGeom prst="rect">
            <a:avLst/>
          </a:prstGeom>
          <a:solidFill>
            <a:srgbClr val="06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856231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76"/>
                </a:solidFill>
              </a:rPr>
              <a:t>Road Class + GMM clusters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185623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6D676"/>
                </a:solidFill>
              </a:rPr>
              <a:t>0.801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423160"/>
            <a:ext cx="6309360" cy="594360"/>
          </a:xfrm>
          <a:prstGeom prst="rect">
            <a:avLst/>
          </a:prstGeom>
          <a:solidFill>
            <a:srgbClr val="064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9631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76"/>
                </a:solidFill>
              </a:rPr>
              <a:t>Road Class + K-Means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94960" y="249631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06D676"/>
                </a:solidFill>
              </a:rPr>
              <a:t>0.801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36391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166"/>
                </a:solidFill>
              </a:rPr>
              <a:t>Road Class alone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94960" y="3136391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D166"/>
                </a:solidFill>
              </a:rPr>
              <a:t>0.781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7764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K-Means clusters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377647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AE9FF"/>
                </a:solidFill>
              </a:rPr>
              <a:t>0.713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41655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HDBSCAN clusters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60" y="441655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AE9FF"/>
                </a:solidFill>
              </a:rPr>
              <a:t>0.711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505663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AE9FF"/>
                </a:solidFill>
              </a:rPr>
              <a:t>No clusters (baseline)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94960" y="5056632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CAE9FF"/>
                </a:solidFill>
              </a:rPr>
              <a:t>0.709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1188720"/>
            <a:ext cx="4754880" cy="45720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0" y="12344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What this means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173736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Adding satellite clusters ON TOP of Road Class improves R² from 0.781 to 0.801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2606039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That +0.020 represents the visual context Road Class does not capture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347472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D166"/>
                </a:solidFill>
              </a:rPr>
              <a:t>•   Clusters alone (~0.71) do not replace Road Class — they supplement 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4343400"/>
            <a:ext cx="4572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Best cluster count: GMM with 21 groups or K-Means with 18 groups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Why Does Satellite Imagery Add Value?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212080" cy="4389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61872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</a:rPr>
              <a:t>Road Class tells you...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8308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Functional hierarchy: arterial vs collector vs local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Design standard and speed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42900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495C"/>
                </a:solidFill>
              </a:rPr>
              <a:t>•   Does NOT capture surrounding land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25196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495C"/>
                </a:solidFill>
              </a:rPr>
              <a:t>•   Two Minor Arterials — one in dense city core, one in quiet suburb — get the same label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188720"/>
            <a:ext cx="5852160" cy="438912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0" y="1261872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Satellite imagery tells you...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178308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What the road environment actually looks like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60604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Dense urban core vs suburban strip vs industrial estate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0" y="342900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•   Number of lanes, intersections, parking visible from above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4251960"/>
            <a:ext cx="5669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6D676"/>
                </a:solidFill>
              </a:rPr>
              <a:t>•   This visual context directly affects how much traffic uses the road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8064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FD166"/>
                </a:solidFill>
              </a:rPr>
              <a:t>The +0.020 R² gain = the visual land-use signal that Road Class treats as identical.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88952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Next Steps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09728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8016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B4D8"/>
                </a:solidFill>
              </a:rPr>
              <a:t>1.  Extend cluster sweep to GMM g=40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The benefit curve was still noisy at g=30. Want to confirm whether g=21 is truly optimal or if higher counts help further.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109728" cy="1097280"/>
          </a:xfrm>
          <a:prstGeom prst="rect">
            <a:avLst/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6032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D166"/>
                </a:solidFill>
              </a:rPr>
              <a:t>2.  Test on held-out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1752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Current R² is measured on the same 726 segments used to build the clusters. Need an independent test set to confirm the +0.020 gain is not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109728" cy="1097280"/>
          </a:xfrm>
          <a:prstGeom prst="rect">
            <a:avLst/>
          </a:prstGeom>
          <a:solidFill>
            <a:srgbClr val="06D6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840480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6D676"/>
                </a:solidFill>
              </a:rPr>
              <a:t>3.  Interpret what each cluster represents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2976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Label each cluster manually — e.g. 'dense urban arterial', 'suburban collector', 'rural highway'. This would make the clusters meaningful to planners.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074919"/>
            <a:ext cx="109728" cy="1097280"/>
          </a:xfrm>
          <a:prstGeom prst="rect">
            <a:avLst/>
          </a:prstGeom>
          <a:solidFill>
            <a:srgbClr val="CAE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5120639"/>
            <a:ext cx="109728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AE9FF"/>
                </a:solidFill>
              </a:rPr>
              <a:t>4.  Write up methodology section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577839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Document the pipeline formally for the report/thesis chapter.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