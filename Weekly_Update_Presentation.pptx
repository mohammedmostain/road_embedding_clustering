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This week I focused on testing whether satellite imagery can improve our predictions of Annual Average Weekday Daily Traffic — AAWDT — beyond what Road Class alone tells us. I'll walk through what I did, how it works, and the key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I ran the full pipeline on our 726 road segments. I tested three clustering algorithms — K-Means, HDBSCAN, and GMM — all applied to satellite image embeddings. I then compared each clustering approach against Road Class for predicting AAWDT. I also ran a sweep to find the optimal number of clusters per method, and did a sensitivity analysis to make sure the results are stable.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pre-trained satellite image model converts each road's aerial photo into 512 numbers — essentially a fingerprint of what the road looks like from above. We can't cluster 512 dimensions directly because all points end up equally far apart — this is the curse of dimensionality. UMAP compresses those 512 numbers down to 20 while preserving which roads look similar. We then apply three clustering algorithms to group roads by visual similarity. Finally, we add those cluster labels as features to an XGBoost model and measure whether AAWDT prediction improves.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dot is one road segment. Dots close together look similar from satellite. On the left you can see the clusters found by K-Means. In the middle, I've coloured the same map by actual AAWDT — warmer colours mean higher traffic. Notice how the warm-coloured dots tend to cluster together. On the right, the bar chart shows mean AAWDT per cluster — there are clear differences between groups. This tells us the clusters are capturing something real about traffic, even though they only used imagery.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big numbers at the top tell the story. Road Class alone gives R² of 0.781. Adding GMM satellite clusters on top brings it to 0.801 — breaking the 0.80 barrier. That's a +0.020 improvement. The bars show all six feature combinations. The yellow vertical line marks the Road Class baseline. Anything to the right of that line means satellite clusters added value. Importantly, clusters alone — without Road Class — only reach about 0.71. The clusters supplement Road Class, they don't replace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 Class is a label assigned by planners. It tells you the functional purpose of the road — arterial, collector, local — but it applies that label uniformly regardless of context. A Minor Arterial in the dense Ottawa city core and a Minor Arterial at the edge of the suburbs get the same label, but they carry very different amounts of traffic. Satellite imagery can see the difference. It captures the surrounding built environment — how dense the buildings are, whether there's a big intersection, a shopping centre, or just fields. That visual context directly influences traffic demand, and that's the extra signal the clusters bring.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I plan to do next. First, the GMM benefit curve was still noisy at g=30 — I want to extend to g=40 to confirm g=21 is truly optimal. Second, the current R² is measured on the same 726 segments used to build the clusters, so I need to validate on a held-out set to confirm the gains aren't from overfitting. Third, I want to manually label what each cluster actually represents in civil engineering terms — dense urban, suburban commercial, rural, and so on — to make the clusters interpretable to planners. Fourth, I'll start writing this up as a methodology section for the thesis.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0" cy="457200"/>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7200"/>
            <a:ext cx="1371600" cy="64008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418320" y="6400800"/>
            <a:ext cx="2770632" cy="457200"/>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789920" y="0"/>
            <a:ext cx="1399032" cy="64008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548640"/>
            <a:ext cx="3959352" cy="2560320"/>
          </a:xfrm>
          <a:prstGeom prst="rect">
            <a:avLst/>
          </a:prstGeom>
          <a:noFill/>
        </p:spPr>
        <p:txBody>
          <a:bodyPr wrap="square">
            <a:spAutoFit/>
          </a:bodyPr>
          <a:lstStyle/>
          <a:p>
            <a:pPr algn="ctr"/>
            <a:r>
              <a:rPr sz="12000" b="0" i="0">
                <a:solidFill>
                  <a:srgbClr val="FFFFFF"/>
                </a:solidFill>
              </a:rPr>
              <a:t>🛰️</a:t>
            </a:r>
          </a:p>
        </p:txBody>
      </p:sp>
      <p:sp>
        <p:nvSpPr>
          <p:cNvPr id="8" name="TextBox 7"/>
          <p:cNvSpPr txBox="1"/>
          <p:nvPr/>
        </p:nvSpPr>
        <p:spPr>
          <a:xfrm>
            <a:off x="1645920" y="3200400"/>
            <a:ext cx="8897112" cy="1828800"/>
          </a:xfrm>
          <a:prstGeom prst="rect">
            <a:avLst/>
          </a:prstGeom>
          <a:noFill/>
        </p:spPr>
        <p:txBody>
          <a:bodyPr wrap="square">
            <a:spAutoFit/>
          </a:bodyPr>
          <a:lstStyle/>
          <a:p>
            <a:pPr algn="ctr"/>
            <a:r>
              <a:rPr sz="3400" b="1" i="0">
                <a:solidFill>
                  <a:srgbClr val="FFFFFF"/>
                </a:solidFill>
              </a:rPr>
              <a:t>Can Satellite Imagery
Improve Traffic Prediction?</a:t>
            </a:r>
          </a:p>
        </p:txBody>
      </p:sp>
      <p:sp>
        <p:nvSpPr>
          <p:cNvPr id="9" name="Rectangle 8"/>
          <p:cNvSpPr/>
          <p:nvPr/>
        </p:nvSpPr>
        <p:spPr>
          <a:xfrm>
            <a:off x="1645920" y="5074920"/>
            <a:ext cx="8897112" cy="45720"/>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5166360"/>
            <a:ext cx="8897112" cy="457200"/>
          </a:xfrm>
          <a:prstGeom prst="rect">
            <a:avLst/>
          </a:prstGeom>
          <a:noFill/>
        </p:spPr>
        <p:txBody>
          <a:bodyPr wrap="square">
            <a:spAutoFit/>
          </a:bodyPr>
          <a:lstStyle/>
          <a:p>
            <a:pPr algn="ctr"/>
            <a:r>
              <a:rPr sz="1400" b="0" i="0">
                <a:solidFill>
                  <a:srgbClr val="B8D8F0"/>
                </a:solidFill>
              </a:rPr>
              <a:t>Weekly Research Update  ·  Mohammed Mostain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972800" cy="804672"/>
          </a:xfrm>
          <a:prstGeom prst="rect">
            <a:avLst/>
          </a:prstGeom>
          <a:noFill/>
        </p:spPr>
        <p:txBody>
          <a:bodyPr wrap="square">
            <a:spAutoFit/>
          </a:bodyPr>
          <a:lstStyle/>
          <a:p>
            <a:pPr algn="l"/>
            <a:r>
              <a:rPr sz="2800" b="1" i="0">
                <a:solidFill>
                  <a:srgbClr val="FFFFFF"/>
                </a:solidFill>
              </a:rPr>
              <a:t>This Week</a:t>
            </a:r>
          </a:p>
        </p:txBody>
      </p:sp>
      <p:sp>
        <p:nvSpPr>
          <p:cNvPr id="4" name="Rectangle 3"/>
          <p:cNvSpPr/>
          <p:nvPr/>
        </p:nvSpPr>
        <p:spPr>
          <a:xfrm>
            <a:off x="0" y="1024128"/>
            <a:ext cx="12188952" cy="45720"/>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371600"/>
            <a:ext cx="2103120" cy="201168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572768"/>
            <a:ext cx="2103120" cy="822960"/>
          </a:xfrm>
          <a:prstGeom prst="rect">
            <a:avLst/>
          </a:prstGeom>
          <a:noFill/>
        </p:spPr>
        <p:txBody>
          <a:bodyPr wrap="square">
            <a:spAutoFit/>
          </a:bodyPr>
          <a:lstStyle/>
          <a:p>
            <a:pPr algn="ctr"/>
            <a:r>
              <a:rPr sz="3600" b="0" i="0">
                <a:solidFill>
                  <a:srgbClr val="FFFFFF"/>
                </a:solidFill>
              </a:rPr>
              <a:t>🛰️</a:t>
            </a:r>
          </a:p>
        </p:txBody>
      </p:sp>
      <p:sp>
        <p:nvSpPr>
          <p:cNvPr id="7" name="TextBox 6"/>
          <p:cNvSpPr txBox="1"/>
          <p:nvPr/>
        </p:nvSpPr>
        <p:spPr>
          <a:xfrm>
            <a:off x="365760" y="2724912"/>
            <a:ext cx="2103120" cy="594360"/>
          </a:xfrm>
          <a:prstGeom prst="rect">
            <a:avLst/>
          </a:prstGeom>
          <a:noFill/>
        </p:spPr>
        <p:txBody>
          <a:bodyPr wrap="square">
            <a:spAutoFit/>
          </a:bodyPr>
          <a:lstStyle/>
          <a:p>
            <a:pPr algn="ctr"/>
            <a:r>
              <a:rPr sz="1300" b="1" i="0">
                <a:solidFill>
                  <a:srgbClr val="FFFFFF"/>
                </a:solidFill>
              </a:rPr>
              <a:t>Satellite
Clustering</a:t>
            </a:r>
          </a:p>
        </p:txBody>
      </p:sp>
      <p:sp>
        <p:nvSpPr>
          <p:cNvPr id="8" name="Rounded Rectangle 7"/>
          <p:cNvSpPr/>
          <p:nvPr/>
        </p:nvSpPr>
        <p:spPr>
          <a:xfrm>
            <a:off x="2697479" y="1371600"/>
            <a:ext cx="2103120" cy="201168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97479" y="1572768"/>
            <a:ext cx="2103120" cy="822960"/>
          </a:xfrm>
          <a:prstGeom prst="rect">
            <a:avLst/>
          </a:prstGeom>
          <a:noFill/>
        </p:spPr>
        <p:txBody>
          <a:bodyPr wrap="square">
            <a:spAutoFit/>
          </a:bodyPr>
          <a:lstStyle/>
          <a:p>
            <a:pPr algn="ctr"/>
            <a:r>
              <a:rPr sz="3600" b="0" i="0">
                <a:solidFill>
                  <a:srgbClr val="FFFFFF"/>
                </a:solidFill>
              </a:rPr>
              <a:t>⚙️</a:t>
            </a:r>
          </a:p>
        </p:txBody>
      </p:sp>
      <p:sp>
        <p:nvSpPr>
          <p:cNvPr id="10" name="TextBox 9"/>
          <p:cNvSpPr txBox="1"/>
          <p:nvPr/>
        </p:nvSpPr>
        <p:spPr>
          <a:xfrm>
            <a:off x="2697479" y="2724912"/>
            <a:ext cx="2103120" cy="594360"/>
          </a:xfrm>
          <a:prstGeom prst="rect">
            <a:avLst/>
          </a:prstGeom>
          <a:noFill/>
        </p:spPr>
        <p:txBody>
          <a:bodyPr wrap="square">
            <a:spAutoFit/>
          </a:bodyPr>
          <a:lstStyle/>
          <a:p>
            <a:pPr algn="ctr"/>
            <a:r>
              <a:rPr sz="1300" b="1" i="0">
                <a:solidFill>
                  <a:srgbClr val="FFFFFF"/>
                </a:solidFill>
              </a:rPr>
              <a:t>3 Methods
Tested</a:t>
            </a:r>
          </a:p>
        </p:txBody>
      </p:sp>
      <p:sp>
        <p:nvSpPr>
          <p:cNvPr id="11" name="Rounded Rectangle 10"/>
          <p:cNvSpPr/>
          <p:nvPr/>
        </p:nvSpPr>
        <p:spPr>
          <a:xfrm>
            <a:off x="5029200" y="1371600"/>
            <a:ext cx="2103120" cy="201168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1572768"/>
            <a:ext cx="2103120" cy="822960"/>
          </a:xfrm>
          <a:prstGeom prst="rect">
            <a:avLst/>
          </a:prstGeom>
          <a:noFill/>
        </p:spPr>
        <p:txBody>
          <a:bodyPr wrap="square">
            <a:spAutoFit/>
          </a:bodyPr>
          <a:lstStyle/>
          <a:p>
            <a:pPr algn="ctr"/>
            <a:r>
              <a:rPr sz="3600" b="0" i="0">
                <a:solidFill>
                  <a:srgbClr val="FFFFFF"/>
                </a:solidFill>
              </a:rPr>
              <a:t>📊</a:t>
            </a:r>
          </a:p>
        </p:txBody>
      </p:sp>
      <p:sp>
        <p:nvSpPr>
          <p:cNvPr id="13" name="TextBox 12"/>
          <p:cNvSpPr txBox="1"/>
          <p:nvPr/>
        </p:nvSpPr>
        <p:spPr>
          <a:xfrm>
            <a:off x="5029200" y="2724912"/>
            <a:ext cx="2103120" cy="594360"/>
          </a:xfrm>
          <a:prstGeom prst="rect">
            <a:avLst/>
          </a:prstGeom>
          <a:noFill/>
        </p:spPr>
        <p:txBody>
          <a:bodyPr wrap="square">
            <a:spAutoFit/>
          </a:bodyPr>
          <a:lstStyle/>
          <a:p>
            <a:pPr algn="ctr"/>
            <a:r>
              <a:rPr sz="1300" b="1" i="0">
                <a:solidFill>
                  <a:srgbClr val="FFFFFF"/>
                </a:solidFill>
              </a:rPr>
              <a:t>Road Class
Comparison</a:t>
            </a:r>
          </a:p>
        </p:txBody>
      </p:sp>
      <p:sp>
        <p:nvSpPr>
          <p:cNvPr id="14" name="Rounded Rectangle 13"/>
          <p:cNvSpPr/>
          <p:nvPr/>
        </p:nvSpPr>
        <p:spPr>
          <a:xfrm>
            <a:off x="7360919" y="1371600"/>
            <a:ext cx="2103120" cy="201168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0919" y="1572768"/>
            <a:ext cx="2103120" cy="822960"/>
          </a:xfrm>
          <a:prstGeom prst="rect">
            <a:avLst/>
          </a:prstGeom>
          <a:noFill/>
        </p:spPr>
        <p:txBody>
          <a:bodyPr wrap="square">
            <a:spAutoFit/>
          </a:bodyPr>
          <a:lstStyle/>
          <a:p>
            <a:pPr algn="ctr"/>
            <a:r>
              <a:rPr sz="3600" b="0" i="0">
                <a:solidFill>
                  <a:srgbClr val="FFFFFF"/>
                </a:solidFill>
              </a:rPr>
              <a:t>🔍</a:t>
            </a:r>
          </a:p>
        </p:txBody>
      </p:sp>
      <p:sp>
        <p:nvSpPr>
          <p:cNvPr id="16" name="TextBox 15"/>
          <p:cNvSpPr txBox="1"/>
          <p:nvPr/>
        </p:nvSpPr>
        <p:spPr>
          <a:xfrm>
            <a:off x="7360919" y="2724912"/>
            <a:ext cx="2103120" cy="594360"/>
          </a:xfrm>
          <a:prstGeom prst="rect">
            <a:avLst/>
          </a:prstGeom>
          <a:noFill/>
        </p:spPr>
        <p:txBody>
          <a:bodyPr wrap="square">
            <a:spAutoFit/>
          </a:bodyPr>
          <a:lstStyle/>
          <a:p>
            <a:pPr algn="ctr"/>
            <a:r>
              <a:rPr sz="1300" b="1" i="0">
                <a:solidFill>
                  <a:srgbClr val="FFFFFF"/>
                </a:solidFill>
              </a:rPr>
              <a:t>Optimal k
Sweep</a:t>
            </a:r>
          </a:p>
        </p:txBody>
      </p:sp>
      <p:sp>
        <p:nvSpPr>
          <p:cNvPr id="17" name="Rounded Rectangle 16"/>
          <p:cNvSpPr/>
          <p:nvPr/>
        </p:nvSpPr>
        <p:spPr>
          <a:xfrm>
            <a:off x="9692640" y="1371600"/>
            <a:ext cx="2103120" cy="201168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0" y="1572768"/>
            <a:ext cx="2103120" cy="822960"/>
          </a:xfrm>
          <a:prstGeom prst="rect">
            <a:avLst/>
          </a:prstGeom>
          <a:noFill/>
        </p:spPr>
        <p:txBody>
          <a:bodyPr wrap="square">
            <a:spAutoFit/>
          </a:bodyPr>
          <a:lstStyle/>
          <a:p>
            <a:pPr algn="ctr"/>
            <a:r>
              <a:rPr sz="3600" b="0" i="0">
                <a:solidFill>
                  <a:srgbClr val="FFFFFF"/>
                </a:solidFill>
              </a:rPr>
              <a:t>✅</a:t>
            </a:r>
          </a:p>
        </p:txBody>
      </p:sp>
      <p:sp>
        <p:nvSpPr>
          <p:cNvPr id="19" name="TextBox 18"/>
          <p:cNvSpPr txBox="1"/>
          <p:nvPr/>
        </p:nvSpPr>
        <p:spPr>
          <a:xfrm>
            <a:off x="9692640" y="2724912"/>
            <a:ext cx="2103120" cy="594360"/>
          </a:xfrm>
          <a:prstGeom prst="rect">
            <a:avLst/>
          </a:prstGeom>
          <a:noFill/>
        </p:spPr>
        <p:txBody>
          <a:bodyPr wrap="square">
            <a:spAutoFit/>
          </a:bodyPr>
          <a:lstStyle/>
          <a:p>
            <a:pPr algn="ctr"/>
            <a:r>
              <a:rPr sz="1300" b="1" i="0">
                <a:solidFill>
                  <a:srgbClr val="FFFFFF"/>
                </a:solidFill>
              </a:rPr>
              <a:t>Stability
Checked</a:t>
            </a:r>
          </a:p>
        </p:txBody>
      </p:sp>
      <p:sp>
        <p:nvSpPr>
          <p:cNvPr id="20" name="Rounded Rectangle 19"/>
          <p:cNvSpPr/>
          <p:nvPr/>
        </p:nvSpPr>
        <p:spPr>
          <a:xfrm>
            <a:off x="365760" y="3749039"/>
            <a:ext cx="11457432" cy="914400"/>
          </a:xfrm>
          <a:prstGeom prst="roundRect">
            <a:avLst>
              <a:gd name="adj" fmla="val 8000"/>
            </a:avLst>
          </a:prstGeom>
          <a:solidFill>
            <a:srgbClr val="2C3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840480"/>
            <a:ext cx="11155680" cy="731520"/>
          </a:xfrm>
          <a:prstGeom prst="rect">
            <a:avLst/>
          </a:prstGeom>
          <a:noFill/>
        </p:spPr>
        <p:txBody>
          <a:bodyPr wrap="square">
            <a:spAutoFit/>
          </a:bodyPr>
          <a:lstStyle/>
          <a:p>
            <a:pPr algn="ctr"/>
            <a:r>
              <a:rPr sz="1800" b="1" i="0">
                <a:solidFill>
                  <a:srgbClr val="FFCA3A"/>
                </a:solidFill>
              </a:rPr>
              <a:t>Do road segments that look similar from above also carry similar traffic volumes?</a:t>
            </a:r>
          </a:p>
        </p:txBody>
      </p:sp>
      <p:pic>
        <p:nvPicPr>
          <p:cNvPr id="22" name="Picture 21" descr="03_umap_kmeans_clusters.png"/>
          <p:cNvPicPr>
            <a:picLocks noChangeAspect="1"/>
          </p:cNvPicPr>
          <p:nvPr/>
        </p:nvPicPr>
        <p:blipFill>
          <a:blip r:embed="rId2"/>
          <a:stretch>
            <a:fillRect/>
          </a:stretch>
        </p:blipFill>
        <p:spPr>
          <a:xfrm>
            <a:off x="365760" y="4846320"/>
            <a:ext cx="2926080" cy="1828800"/>
          </a:xfrm>
          <a:prstGeom prst="rect">
            <a:avLst/>
          </a:prstGeom>
        </p:spPr>
      </p:pic>
      <p:pic>
        <p:nvPicPr>
          <p:cNvPr id="23" name="Picture 22" descr="04_umap_aawdt.png"/>
          <p:cNvPicPr>
            <a:picLocks noChangeAspect="1"/>
          </p:cNvPicPr>
          <p:nvPr/>
        </p:nvPicPr>
        <p:blipFill>
          <a:blip r:embed="rId3"/>
          <a:stretch>
            <a:fillRect/>
          </a:stretch>
        </p:blipFill>
        <p:spPr>
          <a:xfrm>
            <a:off x="3474720" y="4846320"/>
            <a:ext cx="2926080" cy="1828800"/>
          </a:xfrm>
          <a:prstGeom prst="rect">
            <a:avLst/>
          </a:prstGeom>
        </p:spPr>
      </p:pic>
      <p:pic>
        <p:nvPicPr>
          <p:cNvPr id="24" name="Picture 23" descr="10_bar_roadclass.png"/>
          <p:cNvPicPr>
            <a:picLocks noChangeAspect="1"/>
          </p:cNvPicPr>
          <p:nvPr/>
        </p:nvPicPr>
        <p:blipFill>
          <a:blip r:embed="rId4"/>
          <a:stretch>
            <a:fillRect/>
          </a:stretch>
        </p:blipFill>
        <p:spPr>
          <a:xfrm>
            <a:off x="6583680" y="4846320"/>
            <a:ext cx="2743200" cy="1828800"/>
          </a:xfrm>
          <a:prstGeom prst="rect">
            <a:avLst/>
          </a:prstGeom>
        </p:spPr>
      </p:pic>
      <p:pic>
        <p:nvPicPr>
          <p:cNvPr id="25" name="Picture 24" descr="11_r2_heatmap.png"/>
          <p:cNvPicPr>
            <a:picLocks noChangeAspect="1"/>
          </p:cNvPicPr>
          <p:nvPr/>
        </p:nvPicPr>
        <p:blipFill>
          <a:blip r:embed="rId5"/>
          <a:stretch>
            <a:fillRect/>
          </a:stretch>
        </p:blipFill>
        <p:spPr>
          <a:xfrm>
            <a:off x="9464040" y="4846320"/>
            <a:ext cx="2606040" cy="182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972800" cy="804672"/>
          </a:xfrm>
          <a:prstGeom prst="rect">
            <a:avLst/>
          </a:prstGeom>
          <a:noFill/>
        </p:spPr>
        <p:txBody>
          <a:bodyPr wrap="square">
            <a:spAutoFit/>
          </a:bodyPr>
          <a:lstStyle/>
          <a:p>
            <a:pPr algn="l"/>
            <a:r>
              <a:rPr sz="2800" b="1" i="0">
                <a:solidFill>
                  <a:srgbClr val="FFFFFF"/>
                </a:solidFill>
              </a:rPr>
              <a:t>The Approach</a:t>
            </a:r>
          </a:p>
        </p:txBody>
      </p:sp>
      <p:sp>
        <p:nvSpPr>
          <p:cNvPr id="4" name="Rectangle 3"/>
          <p:cNvSpPr/>
          <p:nvPr/>
        </p:nvSpPr>
        <p:spPr>
          <a:xfrm>
            <a:off x="0" y="1024128"/>
            <a:ext cx="12188952" cy="45720"/>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371600"/>
            <a:ext cx="2286000" cy="292608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25880" y="1234440"/>
            <a:ext cx="457200" cy="457200"/>
          </a:xfrm>
          <a:prstGeom prst="roundRect">
            <a:avLst>
              <a:gd name="adj" fmla="val 8000"/>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1234440"/>
            <a:ext cx="457200" cy="457200"/>
          </a:xfrm>
          <a:prstGeom prst="rect">
            <a:avLst/>
          </a:prstGeom>
          <a:noFill/>
        </p:spPr>
        <p:txBody>
          <a:bodyPr wrap="square">
            <a:spAutoFit/>
          </a:bodyPr>
          <a:lstStyle/>
          <a:p>
            <a:pPr algn="ctr"/>
            <a:r>
              <a:rPr sz="1400" b="1" i="0">
                <a:solidFill>
                  <a:srgbClr val="0D1B2A"/>
                </a:solidFill>
              </a:rPr>
              <a:t>1</a:t>
            </a:r>
          </a:p>
        </p:txBody>
      </p:sp>
      <p:sp>
        <p:nvSpPr>
          <p:cNvPr id="8" name="TextBox 7"/>
          <p:cNvSpPr txBox="1"/>
          <p:nvPr/>
        </p:nvSpPr>
        <p:spPr>
          <a:xfrm>
            <a:off x="411480" y="1508760"/>
            <a:ext cx="2286000" cy="1005840"/>
          </a:xfrm>
          <a:prstGeom prst="rect">
            <a:avLst/>
          </a:prstGeom>
          <a:noFill/>
        </p:spPr>
        <p:txBody>
          <a:bodyPr wrap="square">
            <a:spAutoFit/>
          </a:bodyPr>
          <a:lstStyle/>
          <a:p>
            <a:pPr algn="ctr"/>
            <a:r>
              <a:rPr sz="4600" b="0" i="0">
                <a:solidFill>
                  <a:srgbClr val="FFFFFF"/>
                </a:solidFill>
              </a:rPr>
              <a:t>🛰️</a:t>
            </a:r>
          </a:p>
        </p:txBody>
      </p:sp>
      <p:sp>
        <p:nvSpPr>
          <p:cNvPr id="9" name="TextBox 8"/>
          <p:cNvSpPr txBox="1"/>
          <p:nvPr/>
        </p:nvSpPr>
        <p:spPr>
          <a:xfrm>
            <a:off x="411480" y="2514600"/>
            <a:ext cx="2286000" cy="777240"/>
          </a:xfrm>
          <a:prstGeom prst="rect">
            <a:avLst/>
          </a:prstGeom>
          <a:noFill/>
        </p:spPr>
        <p:txBody>
          <a:bodyPr wrap="square">
            <a:spAutoFit/>
          </a:bodyPr>
          <a:lstStyle/>
          <a:p>
            <a:pPr algn="ctr"/>
            <a:r>
              <a:rPr sz="1600" b="1" i="0">
                <a:solidFill>
                  <a:srgbClr val="FFFFFF"/>
                </a:solidFill>
              </a:rPr>
              <a:t>Satellite
Image</a:t>
            </a:r>
          </a:p>
        </p:txBody>
      </p:sp>
      <p:sp>
        <p:nvSpPr>
          <p:cNvPr id="10" name="Rectangle 9"/>
          <p:cNvSpPr/>
          <p:nvPr/>
        </p:nvSpPr>
        <p:spPr>
          <a:xfrm>
            <a:off x="594360" y="3291840"/>
            <a:ext cx="1920240" cy="36576"/>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3364992"/>
            <a:ext cx="2286000" cy="777240"/>
          </a:xfrm>
          <a:prstGeom prst="rect">
            <a:avLst/>
          </a:prstGeom>
          <a:noFill/>
        </p:spPr>
        <p:txBody>
          <a:bodyPr wrap="square">
            <a:spAutoFit/>
          </a:bodyPr>
          <a:lstStyle/>
          <a:p>
            <a:pPr algn="ctr"/>
            <a:r>
              <a:rPr sz="1300" b="0" i="0">
                <a:solidFill>
                  <a:srgbClr val="B8D8F0"/>
                </a:solidFill>
              </a:rPr>
              <a:t>512 numbers
per road</a:t>
            </a:r>
          </a:p>
        </p:txBody>
      </p:sp>
      <p:sp>
        <p:nvSpPr>
          <p:cNvPr id="12" name="TextBox 11"/>
          <p:cNvSpPr txBox="1"/>
          <p:nvPr/>
        </p:nvSpPr>
        <p:spPr>
          <a:xfrm>
            <a:off x="2770632" y="2377440"/>
            <a:ext cx="384048" cy="640080"/>
          </a:xfrm>
          <a:prstGeom prst="rect">
            <a:avLst/>
          </a:prstGeom>
          <a:noFill/>
        </p:spPr>
        <p:txBody>
          <a:bodyPr wrap="square">
            <a:spAutoFit/>
          </a:bodyPr>
          <a:lstStyle/>
          <a:p>
            <a:pPr algn="ctr"/>
            <a:r>
              <a:rPr sz="2800" b="0" i="0">
                <a:solidFill>
                  <a:srgbClr val="00C2E0"/>
                </a:solidFill>
              </a:rPr>
              <a:t>➔</a:t>
            </a:r>
          </a:p>
        </p:txBody>
      </p:sp>
      <p:sp>
        <p:nvSpPr>
          <p:cNvPr id="13" name="Rounded Rectangle 12"/>
          <p:cNvSpPr/>
          <p:nvPr/>
        </p:nvSpPr>
        <p:spPr>
          <a:xfrm>
            <a:off x="3154680" y="1371600"/>
            <a:ext cx="2286000" cy="292608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069080" y="1234440"/>
            <a:ext cx="457200" cy="457200"/>
          </a:xfrm>
          <a:prstGeom prst="roundRect">
            <a:avLst>
              <a:gd name="adj" fmla="val 8000"/>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9080" y="1234440"/>
            <a:ext cx="457200" cy="457200"/>
          </a:xfrm>
          <a:prstGeom prst="rect">
            <a:avLst/>
          </a:prstGeom>
          <a:noFill/>
        </p:spPr>
        <p:txBody>
          <a:bodyPr wrap="square">
            <a:spAutoFit/>
          </a:bodyPr>
          <a:lstStyle/>
          <a:p>
            <a:pPr algn="ctr"/>
            <a:r>
              <a:rPr sz="1400" b="1" i="0">
                <a:solidFill>
                  <a:srgbClr val="0D1B2A"/>
                </a:solidFill>
              </a:rPr>
              <a:t>2</a:t>
            </a:r>
          </a:p>
        </p:txBody>
      </p:sp>
      <p:sp>
        <p:nvSpPr>
          <p:cNvPr id="16" name="TextBox 15"/>
          <p:cNvSpPr txBox="1"/>
          <p:nvPr/>
        </p:nvSpPr>
        <p:spPr>
          <a:xfrm>
            <a:off x="3154680" y="1508760"/>
            <a:ext cx="2286000" cy="1005840"/>
          </a:xfrm>
          <a:prstGeom prst="rect">
            <a:avLst/>
          </a:prstGeom>
          <a:noFill/>
        </p:spPr>
        <p:txBody>
          <a:bodyPr wrap="square">
            <a:spAutoFit/>
          </a:bodyPr>
          <a:lstStyle/>
          <a:p>
            <a:pPr algn="ctr"/>
            <a:r>
              <a:rPr sz="4600" b="0" i="0">
                <a:solidFill>
                  <a:srgbClr val="FFFFFF"/>
                </a:solidFill>
              </a:rPr>
              <a:t>📐</a:t>
            </a:r>
          </a:p>
        </p:txBody>
      </p:sp>
      <p:sp>
        <p:nvSpPr>
          <p:cNvPr id="17" name="TextBox 16"/>
          <p:cNvSpPr txBox="1"/>
          <p:nvPr/>
        </p:nvSpPr>
        <p:spPr>
          <a:xfrm>
            <a:off x="3154680" y="2514600"/>
            <a:ext cx="2286000" cy="777240"/>
          </a:xfrm>
          <a:prstGeom prst="rect">
            <a:avLst/>
          </a:prstGeom>
          <a:noFill/>
        </p:spPr>
        <p:txBody>
          <a:bodyPr wrap="square">
            <a:spAutoFit/>
          </a:bodyPr>
          <a:lstStyle/>
          <a:p>
            <a:pPr algn="ctr"/>
            <a:r>
              <a:rPr sz="1600" b="1" i="0">
                <a:solidFill>
                  <a:srgbClr val="FFFFFF"/>
                </a:solidFill>
              </a:rPr>
              <a:t>Compress
(UMAP)</a:t>
            </a:r>
          </a:p>
        </p:txBody>
      </p:sp>
      <p:sp>
        <p:nvSpPr>
          <p:cNvPr id="18" name="Rectangle 17"/>
          <p:cNvSpPr/>
          <p:nvPr/>
        </p:nvSpPr>
        <p:spPr>
          <a:xfrm>
            <a:off x="3337560" y="3291840"/>
            <a:ext cx="1920240" cy="36576"/>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54680" y="3364992"/>
            <a:ext cx="2286000" cy="777240"/>
          </a:xfrm>
          <a:prstGeom prst="rect">
            <a:avLst/>
          </a:prstGeom>
          <a:noFill/>
        </p:spPr>
        <p:txBody>
          <a:bodyPr wrap="square">
            <a:spAutoFit/>
          </a:bodyPr>
          <a:lstStyle/>
          <a:p>
            <a:pPr algn="ctr"/>
            <a:r>
              <a:rPr sz="1300" b="0" i="0">
                <a:solidFill>
                  <a:srgbClr val="B8D8F0"/>
                </a:solidFill>
              </a:rPr>
              <a:t>512 → 20
dimensions</a:t>
            </a:r>
          </a:p>
        </p:txBody>
      </p:sp>
      <p:sp>
        <p:nvSpPr>
          <p:cNvPr id="20" name="TextBox 19"/>
          <p:cNvSpPr txBox="1"/>
          <p:nvPr/>
        </p:nvSpPr>
        <p:spPr>
          <a:xfrm>
            <a:off x="5513832" y="2377440"/>
            <a:ext cx="384048" cy="640080"/>
          </a:xfrm>
          <a:prstGeom prst="rect">
            <a:avLst/>
          </a:prstGeom>
          <a:noFill/>
        </p:spPr>
        <p:txBody>
          <a:bodyPr wrap="square">
            <a:spAutoFit/>
          </a:bodyPr>
          <a:lstStyle/>
          <a:p>
            <a:pPr algn="ctr"/>
            <a:r>
              <a:rPr sz="2800" b="0" i="0">
                <a:solidFill>
                  <a:srgbClr val="00C2E0"/>
                </a:solidFill>
              </a:rPr>
              <a:t>➔</a:t>
            </a:r>
          </a:p>
        </p:txBody>
      </p:sp>
      <p:sp>
        <p:nvSpPr>
          <p:cNvPr id="21" name="Rounded Rectangle 20"/>
          <p:cNvSpPr/>
          <p:nvPr/>
        </p:nvSpPr>
        <p:spPr>
          <a:xfrm>
            <a:off x="5897880" y="1371600"/>
            <a:ext cx="2286000" cy="292608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812280" y="1234440"/>
            <a:ext cx="457200" cy="457200"/>
          </a:xfrm>
          <a:prstGeom prst="roundRect">
            <a:avLst>
              <a:gd name="adj" fmla="val 8000"/>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1234440"/>
            <a:ext cx="457200" cy="457200"/>
          </a:xfrm>
          <a:prstGeom prst="rect">
            <a:avLst/>
          </a:prstGeom>
          <a:noFill/>
        </p:spPr>
        <p:txBody>
          <a:bodyPr wrap="square">
            <a:spAutoFit/>
          </a:bodyPr>
          <a:lstStyle/>
          <a:p>
            <a:pPr algn="ctr"/>
            <a:r>
              <a:rPr sz="1400" b="1" i="0">
                <a:solidFill>
                  <a:srgbClr val="0D1B2A"/>
                </a:solidFill>
              </a:rPr>
              <a:t>3</a:t>
            </a:r>
          </a:p>
        </p:txBody>
      </p:sp>
      <p:sp>
        <p:nvSpPr>
          <p:cNvPr id="24" name="TextBox 23"/>
          <p:cNvSpPr txBox="1"/>
          <p:nvPr/>
        </p:nvSpPr>
        <p:spPr>
          <a:xfrm>
            <a:off x="5897880" y="1508760"/>
            <a:ext cx="2286000" cy="1005840"/>
          </a:xfrm>
          <a:prstGeom prst="rect">
            <a:avLst/>
          </a:prstGeom>
          <a:noFill/>
        </p:spPr>
        <p:txBody>
          <a:bodyPr wrap="square">
            <a:spAutoFit/>
          </a:bodyPr>
          <a:lstStyle/>
          <a:p>
            <a:pPr algn="ctr"/>
            <a:r>
              <a:rPr sz="4600" b="0" i="0">
                <a:solidFill>
                  <a:srgbClr val="FFFFFF"/>
                </a:solidFill>
              </a:rPr>
              <a:t>🔵</a:t>
            </a:r>
          </a:p>
        </p:txBody>
      </p:sp>
      <p:sp>
        <p:nvSpPr>
          <p:cNvPr id="25" name="TextBox 24"/>
          <p:cNvSpPr txBox="1"/>
          <p:nvPr/>
        </p:nvSpPr>
        <p:spPr>
          <a:xfrm>
            <a:off x="5897880" y="2514600"/>
            <a:ext cx="2286000" cy="777240"/>
          </a:xfrm>
          <a:prstGeom prst="rect">
            <a:avLst/>
          </a:prstGeom>
          <a:noFill/>
        </p:spPr>
        <p:txBody>
          <a:bodyPr wrap="square">
            <a:spAutoFit/>
          </a:bodyPr>
          <a:lstStyle/>
          <a:p>
            <a:pPr algn="ctr"/>
            <a:r>
              <a:rPr sz="1600" b="1" i="0">
                <a:solidFill>
                  <a:srgbClr val="FFFFFF"/>
                </a:solidFill>
              </a:rPr>
              <a:t>Group
Similar Roads</a:t>
            </a:r>
          </a:p>
        </p:txBody>
      </p:sp>
      <p:sp>
        <p:nvSpPr>
          <p:cNvPr id="26" name="Rectangle 25"/>
          <p:cNvSpPr/>
          <p:nvPr/>
        </p:nvSpPr>
        <p:spPr>
          <a:xfrm>
            <a:off x="6080760" y="3291840"/>
            <a:ext cx="1920240" cy="36576"/>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97880" y="3364992"/>
            <a:ext cx="2286000" cy="777240"/>
          </a:xfrm>
          <a:prstGeom prst="rect">
            <a:avLst/>
          </a:prstGeom>
          <a:noFill/>
        </p:spPr>
        <p:txBody>
          <a:bodyPr wrap="square">
            <a:spAutoFit/>
          </a:bodyPr>
          <a:lstStyle/>
          <a:p>
            <a:pPr algn="ctr"/>
            <a:r>
              <a:rPr sz="1300" b="0" i="0">
                <a:solidFill>
                  <a:srgbClr val="B8D8F0"/>
                </a:solidFill>
              </a:rPr>
              <a:t>K-Means
HDBSCAN  GMM</a:t>
            </a:r>
          </a:p>
        </p:txBody>
      </p:sp>
      <p:sp>
        <p:nvSpPr>
          <p:cNvPr id="28" name="TextBox 27"/>
          <p:cNvSpPr txBox="1"/>
          <p:nvPr/>
        </p:nvSpPr>
        <p:spPr>
          <a:xfrm>
            <a:off x="8257031" y="2377440"/>
            <a:ext cx="384048" cy="640080"/>
          </a:xfrm>
          <a:prstGeom prst="rect">
            <a:avLst/>
          </a:prstGeom>
          <a:noFill/>
        </p:spPr>
        <p:txBody>
          <a:bodyPr wrap="square">
            <a:spAutoFit/>
          </a:bodyPr>
          <a:lstStyle/>
          <a:p>
            <a:pPr algn="ctr"/>
            <a:r>
              <a:rPr sz="2800" b="0" i="0">
                <a:solidFill>
                  <a:srgbClr val="00C2E0"/>
                </a:solidFill>
              </a:rPr>
              <a:t>➔</a:t>
            </a:r>
          </a:p>
        </p:txBody>
      </p:sp>
      <p:sp>
        <p:nvSpPr>
          <p:cNvPr id="29" name="Rounded Rectangle 28"/>
          <p:cNvSpPr/>
          <p:nvPr/>
        </p:nvSpPr>
        <p:spPr>
          <a:xfrm>
            <a:off x="8641080" y="1371600"/>
            <a:ext cx="2286000" cy="292608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555480" y="1234440"/>
            <a:ext cx="457200" cy="457200"/>
          </a:xfrm>
          <a:prstGeom prst="roundRect">
            <a:avLst>
              <a:gd name="adj" fmla="val 8000"/>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55480" y="1234440"/>
            <a:ext cx="457200" cy="457200"/>
          </a:xfrm>
          <a:prstGeom prst="rect">
            <a:avLst/>
          </a:prstGeom>
          <a:noFill/>
        </p:spPr>
        <p:txBody>
          <a:bodyPr wrap="square">
            <a:spAutoFit/>
          </a:bodyPr>
          <a:lstStyle/>
          <a:p>
            <a:pPr algn="ctr"/>
            <a:r>
              <a:rPr sz="1400" b="1" i="0">
                <a:solidFill>
                  <a:srgbClr val="0D1B2A"/>
                </a:solidFill>
              </a:rPr>
              <a:t>4</a:t>
            </a:r>
          </a:p>
        </p:txBody>
      </p:sp>
      <p:sp>
        <p:nvSpPr>
          <p:cNvPr id="32" name="TextBox 31"/>
          <p:cNvSpPr txBox="1"/>
          <p:nvPr/>
        </p:nvSpPr>
        <p:spPr>
          <a:xfrm>
            <a:off x="8641080" y="1508760"/>
            <a:ext cx="2286000" cy="1005840"/>
          </a:xfrm>
          <a:prstGeom prst="rect">
            <a:avLst/>
          </a:prstGeom>
          <a:noFill/>
        </p:spPr>
        <p:txBody>
          <a:bodyPr wrap="square">
            <a:spAutoFit/>
          </a:bodyPr>
          <a:lstStyle/>
          <a:p>
            <a:pPr algn="ctr"/>
            <a:r>
              <a:rPr sz="4600" b="0" i="0">
                <a:solidFill>
                  <a:srgbClr val="FFFFFF"/>
                </a:solidFill>
              </a:rPr>
              <a:t>📈</a:t>
            </a:r>
          </a:p>
        </p:txBody>
      </p:sp>
      <p:sp>
        <p:nvSpPr>
          <p:cNvPr id="33" name="TextBox 32"/>
          <p:cNvSpPr txBox="1"/>
          <p:nvPr/>
        </p:nvSpPr>
        <p:spPr>
          <a:xfrm>
            <a:off x="8641080" y="2514600"/>
            <a:ext cx="2286000" cy="777240"/>
          </a:xfrm>
          <a:prstGeom prst="rect">
            <a:avLst/>
          </a:prstGeom>
          <a:noFill/>
        </p:spPr>
        <p:txBody>
          <a:bodyPr wrap="square">
            <a:spAutoFit/>
          </a:bodyPr>
          <a:lstStyle/>
          <a:p>
            <a:pPr algn="ctr"/>
            <a:r>
              <a:rPr sz="1600" b="1" i="0">
                <a:solidFill>
                  <a:srgbClr val="FFFFFF"/>
                </a:solidFill>
              </a:rPr>
              <a:t>Predict
AAWDT</a:t>
            </a:r>
          </a:p>
        </p:txBody>
      </p:sp>
      <p:sp>
        <p:nvSpPr>
          <p:cNvPr id="34" name="Rectangle 33"/>
          <p:cNvSpPr/>
          <p:nvPr/>
        </p:nvSpPr>
        <p:spPr>
          <a:xfrm>
            <a:off x="8823959" y="3291840"/>
            <a:ext cx="1920240" cy="36576"/>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1080" y="3364992"/>
            <a:ext cx="2286000" cy="777240"/>
          </a:xfrm>
          <a:prstGeom prst="rect">
            <a:avLst/>
          </a:prstGeom>
          <a:noFill/>
        </p:spPr>
        <p:txBody>
          <a:bodyPr wrap="square">
            <a:spAutoFit/>
          </a:bodyPr>
          <a:lstStyle/>
          <a:p>
            <a:pPr algn="ctr"/>
            <a:r>
              <a:rPr sz="1300" b="0" i="0">
                <a:solidFill>
                  <a:srgbClr val="B8D8F0"/>
                </a:solidFill>
              </a:rPr>
              <a:t>XGBoost
5-fold CV</a:t>
            </a:r>
          </a:p>
        </p:txBody>
      </p:sp>
      <p:sp>
        <p:nvSpPr>
          <p:cNvPr id="36" name="Rounded Rectangle 35"/>
          <p:cNvSpPr/>
          <p:nvPr/>
        </p:nvSpPr>
        <p:spPr>
          <a:xfrm>
            <a:off x="411480" y="4617720"/>
            <a:ext cx="11457432" cy="685800"/>
          </a:xfrm>
          <a:prstGeom prst="roundRect">
            <a:avLst>
              <a:gd name="adj" fmla="val 8000"/>
            </a:avLst>
          </a:prstGeom>
          <a:solidFill>
            <a:srgbClr val="2C3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4663440"/>
            <a:ext cx="11155680" cy="594360"/>
          </a:xfrm>
          <a:prstGeom prst="rect">
            <a:avLst/>
          </a:prstGeom>
          <a:noFill/>
        </p:spPr>
        <p:txBody>
          <a:bodyPr wrap="square">
            <a:spAutoFit/>
          </a:bodyPr>
          <a:lstStyle/>
          <a:p>
            <a:pPr algn="ctr"/>
            <a:r>
              <a:rPr sz="1400" b="0" i="0">
                <a:solidFill>
                  <a:srgbClr val="FFCA3A"/>
                </a:solidFill>
              </a:rPr>
              <a:t>⚠️   Clustering must happen AFTER compression — raw 512-dim distances are nearly uniform (curse of dimensionality)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972800" cy="804672"/>
          </a:xfrm>
          <a:prstGeom prst="rect">
            <a:avLst/>
          </a:prstGeom>
          <a:noFill/>
        </p:spPr>
        <p:txBody>
          <a:bodyPr wrap="square">
            <a:spAutoFit/>
          </a:bodyPr>
          <a:lstStyle/>
          <a:p>
            <a:pPr algn="l"/>
            <a:r>
              <a:rPr sz="2800" b="1" i="0">
                <a:solidFill>
                  <a:srgbClr val="FFFFFF"/>
                </a:solidFill>
              </a:rPr>
              <a:t>Roads Grouped by Visual Similarity</a:t>
            </a:r>
          </a:p>
        </p:txBody>
      </p:sp>
      <p:sp>
        <p:nvSpPr>
          <p:cNvPr id="4" name="Rectangle 3"/>
          <p:cNvSpPr/>
          <p:nvPr/>
        </p:nvSpPr>
        <p:spPr>
          <a:xfrm>
            <a:off x="0" y="1024128"/>
            <a:ext cx="12188952" cy="45720"/>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3_umap_kmeans_clusters.png"/>
          <p:cNvPicPr>
            <a:picLocks noChangeAspect="1"/>
          </p:cNvPicPr>
          <p:nvPr/>
        </p:nvPicPr>
        <p:blipFill>
          <a:blip r:embed="rId2"/>
          <a:stretch>
            <a:fillRect/>
          </a:stretch>
        </p:blipFill>
        <p:spPr>
          <a:xfrm>
            <a:off x="274320" y="1188720"/>
            <a:ext cx="3657600" cy="3017520"/>
          </a:xfrm>
          <a:prstGeom prst="rect">
            <a:avLst/>
          </a:prstGeom>
        </p:spPr>
      </p:pic>
      <p:pic>
        <p:nvPicPr>
          <p:cNvPr id="6" name="Picture 5" descr="04_umap_aawdt.png"/>
          <p:cNvPicPr>
            <a:picLocks noChangeAspect="1"/>
          </p:cNvPicPr>
          <p:nvPr/>
        </p:nvPicPr>
        <p:blipFill>
          <a:blip r:embed="rId3"/>
          <a:stretch>
            <a:fillRect/>
          </a:stretch>
        </p:blipFill>
        <p:spPr>
          <a:xfrm>
            <a:off x="4114800" y="1188720"/>
            <a:ext cx="3657600" cy="3017520"/>
          </a:xfrm>
          <a:prstGeom prst="rect">
            <a:avLst/>
          </a:prstGeom>
        </p:spPr>
      </p:pic>
      <p:pic>
        <p:nvPicPr>
          <p:cNvPr id="7" name="Picture 6" descr="07_bar_kmeans.png"/>
          <p:cNvPicPr>
            <a:picLocks noChangeAspect="1"/>
          </p:cNvPicPr>
          <p:nvPr/>
        </p:nvPicPr>
        <p:blipFill>
          <a:blip r:embed="rId4"/>
          <a:stretch>
            <a:fillRect/>
          </a:stretch>
        </p:blipFill>
        <p:spPr>
          <a:xfrm>
            <a:off x="7955279" y="1188720"/>
            <a:ext cx="4023360" cy="3017520"/>
          </a:xfrm>
          <a:prstGeom prst="rect">
            <a:avLst/>
          </a:prstGeom>
        </p:spPr>
      </p:pic>
      <p:sp>
        <p:nvSpPr>
          <p:cNvPr id="8" name="TextBox 7"/>
          <p:cNvSpPr txBox="1"/>
          <p:nvPr/>
        </p:nvSpPr>
        <p:spPr>
          <a:xfrm>
            <a:off x="274320" y="4251960"/>
            <a:ext cx="3657600" cy="411480"/>
          </a:xfrm>
          <a:prstGeom prst="rect">
            <a:avLst/>
          </a:prstGeom>
          <a:noFill/>
        </p:spPr>
        <p:txBody>
          <a:bodyPr wrap="square">
            <a:spAutoFit/>
          </a:bodyPr>
          <a:lstStyle/>
          <a:p>
            <a:pPr algn="ctr"/>
            <a:r>
              <a:rPr sz="1300" b="1" i="0">
                <a:solidFill>
                  <a:srgbClr val="00C2E0"/>
                </a:solidFill>
              </a:rPr>
              <a:t>Clusters</a:t>
            </a:r>
          </a:p>
        </p:txBody>
      </p:sp>
      <p:sp>
        <p:nvSpPr>
          <p:cNvPr id="9" name="TextBox 8"/>
          <p:cNvSpPr txBox="1"/>
          <p:nvPr/>
        </p:nvSpPr>
        <p:spPr>
          <a:xfrm>
            <a:off x="4114800" y="4251960"/>
            <a:ext cx="3657600" cy="411480"/>
          </a:xfrm>
          <a:prstGeom prst="rect">
            <a:avLst/>
          </a:prstGeom>
          <a:noFill/>
        </p:spPr>
        <p:txBody>
          <a:bodyPr wrap="square">
            <a:spAutoFit/>
          </a:bodyPr>
          <a:lstStyle/>
          <a:p>
            <a:pPr algn="ctr"/>
            <a:r>
              <a:rPr sz="1300" b="1" i="0">
                <a:solidFill>
                  <a:srgbClr val="FFCA3A"/>
                </a:solidFill>
              </a:rPr>
              <a:t>AAWDT</a:t>
            </a:r>
          </a:p>
        </p:txBody>
      </p:sp>
      <p:sp>
        <p:nvSpPr>
          <p:cNvPr id="10" name="TextBox 9"/>
          <p:cNvSpPr txBox="1"/>
          <p:nvPr/>
        </p:nvSpPr>
        <p:spPr>
          <a:xfrm>
            <a:off x="7955279" y="4251960"/>
            <a:ext cx="3657600" cy="411480"/>
          </a:xfrm>
          <a:prstGeom prst="rect">
            <a:avLst/>
          </a:prstGeom>
          <a:noFill/>
        </p:spPr>
        <p:txBody>
          <a:bodyPr wrap="square">
            <a:spAutoFit/>
          </a:bodyPr>
          <a:lstStyle/>
          <a:p>
            <a:pPr algn="ctr"/>
            <a:r>
              <a:rPr sz="1300" b="1" i="0">
                <a:solidFill>
                  <a:srgbClr val="00C974"/>
                </a:solidFill>
              </a:rPr>
              <a:t>Mean Traffic per Cluster</a:t>
            </a:r>
          </a:p>
        </p:txBody>
      </p:sp>
      <p:sp>
        <p:nvSpPr>
          <p:cNvPr id="11" name="Rounded Rectangle 10"/>
          <p:cNvSpPr/>
          <p:nvPr/>
        </p:nvSpPr>
        <p:spPr>
          <a:xfrm>
            <a:off x="274320" y="4846320"/>
            <a:ext cx="11640312" cy="1188720"/>
          </a:xfrm>
          <a:prstGeom prst="roundRect">
            <a:avLst>
              <a:gd name="adj" fmla="val 8000"/>
            </a:avLst>
          </a:prstGeom>
          <a:solidFill>
            <a:srgbClr val="2C3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937760"/>
            <a:ext cx="731520" cy="1005840"/>
          </a:xfrm>
          <a:prstGeom prst="rect">
            <a:avLst/>
          </a:prstGeom>
          <a:noFill/>
        </p:spPr>
        <p:txBody>
          <a:bodyPr wrap="square">
            <a:spAutoFit/>
          </a:bodyPr>
          <a:lstStyle/>
          <a:p>
            <a:pPr algn="ctr"/>
            <a:r>
              <a:rPr sz="3600" b="0" i="0">
                <a:solidFill>
                  <a:srgbClr val="FFFFFF"/>
                </a:solidFill>
              </a:rPr>
              <a:t>💡</a:t>
            </a:r>
          </a:p>
        </p:txBody>
      </p:sp>
      <p:sp>
        <p:nvSpPr>
          <p:cNvPr id="13" name="TextBox 12"/>
          <p:cNvSpPr txBox="1"/>
          <p:nvPr/>
        </p:nvSpPr>
        <p:spPr>
          <a:xfrm>
            <a:off x="1188720" y="4937760"/>
            <a:ext cx="10607040" cy="1005840"/>
          </a:xfrm>
          <a:prstGeom prst="rect">
            <a:avLst/>
          </a:prstGeom>
          <a:noFill/>
        </p:spPr>
        <p:txBody>
          <a:bodyPr wrap="square">
            <a:spAutoFit/>
          </a:bodyPr>
          <a:lstStyle/>
          <a:p>
            <a:pPr algn="l"/>
            <a:r>
              <a:rPr sz="1500" b="0" i="0">
                <a:solidFill>
                  <a:srgbClr val="FFFFFF"/>
                </a:solidFill>
              </a:rPr>
              <a:t>Clusters that look similar visually also carry similar traffic volumes.
The AAWDT heatmap and the cluster map align — this is not a coincidence.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972800" cy="804672"/>
          </a:xfrm>
          <a:prstGeom prst="rect">
            <a:avLst/>
          </a:prstGeom>
          <a:noFill/>
        </p:spPr>
        <p:txBody>
          <a:bodyPr wrap="square">
            <a:spAutoFit/>
          </a:bodyPr>
          <a:lstStyle/>
          <a:p>
            <a:pPr algn="l"/>
            <a:r>
              <a:rPr sz="2800" b="1" i="0">
                <a:solidFill>
                  <a:srgbClr val="FFFFFF"/>
                </a:solidFill>
              </a:rPr>
              <a:t>Results</a:t>
            </a:r>
          </a:p>
        </p:txBody>
      </p:sp>
      <p:sp>
        <p:nvSpPr>
          <p:cNvPr id="4" name="Rectangle 3"/>
          <p:cNvSpPr/>
          <p:nvPr/>
        </p:nvSpPr>
        <p:spPr>
          <a:xfrm>
            <a:off x="0" y="1024128"/>
            <a:ext cx="12188952" cy="45720"/>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280160"/>
            <a:ext cx="3474720" cy="1828800"/>
          </a:xfrm>
          <a:prstGeom prst="roundRect">
            <a:avLst>
              <a:gd name="adj" fmla="val 8000"/>
            </a:avLst>
          </a:prstGeom>
          <a:solidFill>
            <a:srgbClr val="2C3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371600"/>
            <a:ext cx="3474720" cy="822960"/>
          </a:xfrm>
          <a:prstGeom prst="rect">
            <a:avLst/>
          </a:prstGeom>
          <a:noFill/>
        </p:spPr>
        <p:txBody>
          <a:bodyPr wrap="square">
            <a:spAutoFit/>
          </a:bodyPr>
          <a:lstStyle/>
          <a:p>
            <a:pPr algn="ctr"/>
            <a:r>
              <a:rPr sz="4400" b="1" i="0">
                <a:solidFill>
                  <a:srgbClr val="00C974"/>
                </a:solidFill>
              </a:rPr>
              <a:t>0.801</a:t>
            </a:r>
          </a:p>
        </p:txBody>
      </p:sp>
      <p:sp>
        <p:nvSpPr>
          <p:cNvPr id="7" name="TextBox 6"/>
          <p:cNvSpPr txBox="1"/>
          <p:nvPr/>
        </p:nvSpPr>
        <p:spPr>
          <a:xfrm>
            <a:off x="365760" y="2194560"/>
            <a:ext cx="3474720" cy="457200"/>
          </a:xfrm>
          <a:prstGeom prst="rect">
            <a:avLst/>
          </a:prstGeom>
          <a:noFill/>
        </p:spPr>
        <p:txBody>
          <a:bodyPr wrap="square">
            <a:spAutoFit/>
          </a:bodyPr>
          <a:lstStyle/>
          <a:p>
            <a:pPr algn="ctr"/>
            <a:r>
              <a:rPr sz="1400" b="1" i="0">
                <a:solidFill>
                  <a:srgbClr val="FFFFFF"/>
                </a:solidFill>
              </a:rPr>
              <a:t>Road Class + GMM</a:t>
            </a:r>
          </a:p>
        </p:txBody>
      </p:sp>
      <p:sp>
        <p:nvSpPr>
          <p:cNvPr id="8" name="TextBox 7"/>
          <p:cNvSpPr txBox="1"/>
          <p:nvPr/>
        </p:nvSpPr>
        <p:spPr>
          <a:xfrm>
            <a:off x="365760" y="2633472"/>
            <a:ext cx="3474720" cy="347472"/>
          </a:xfrm>
          <a:prstGeom prst="rect">
            <a:avLst/>
          </a:prstGeom>
          <a:noFill/>
        </p:spPr>
        <p:txBody>
          <a:bodyPr wrap="square">
            <a:spAutoFit/>
          </a:bodyPr>
          <a:lstStyle/>
          <a:p>
            <a:pPr algn="ctr"/>
            <a:r>
              <a:rPr sz="1100" b="0" i="1">
                <a:solidFill>
                  <a:srgbClr val="B8D8F0"/>
                </a:solidFill>
              </a:rPr>
              <a:t>Best R² achieved</a:t>
            </a:r>
          </a:p>
        </p:txBody>
      </p:sp>
      <p:sp>
        <p:nvSpPr>
          <p:cNvPr id="9" name="Rounded Rectangle 8"/>
          <p:cNvSpPr/>
          <p:nvPr/>
        </p:nvSpPr>
        <p:spPr>
          <a:xfrm>
            <a:off x="4114800" y="1280160"/>
            <a:ext cx="3474720" cy="1828800"/>
          </a:xfrm>
          <a:prstGeom prst="roundRect">
            <a:avLst>
              <a:gd name="adj" fmla="val 8000"/>
            </a:avLst>
          </a:prstGeom>
          <a:solidFill>
            <a:srgbClr val="2C3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0" y="1371600"/>
            <a:ext cx="3474720" cy="822960"/>
          </a:xfrm>
          <a:prstGeom prst="rect">
            <a:avLst/>
          </a:prstGeom>
          <a:noFill/>
        </p:spPr>
        <p:txBody>
          <a:bodyPr wrap="square">
            <a:spAutoFit/>
          </a:bodyPr>
          <a:lstStyle/>
          <a:p>
            <a:pPr algn="ctr"/>
            <a:r>
              <a:rPr sz="4400" b="1" i="0">
                <a:solidFill>
                  <a:srgbClr val="FFCA3A"/>
                </a:solidFill>
              </a:rPr>
              <a:t>0.781</a:t>
            </a:r>
          </a:p>
        </p:txBody>
      </p:sp>
      <p:sp>
        <p:nvSpPr>
          <p:cNvPr id="11" name="TextBox 10"/>
          <p:cNvSpPr txBox="1"/>
          <p:nvPr/>
        </p:nvSpPr>
        <p:spPr>
          <a:xfrm>
            <a:off x="4114800" y="2194560"/>
            <a:ext cx="3474720" cy="457200"/>
          </a:xfrm>
          <a:prstGeom prst="rect">
            <a:avLst/>
          </a:prstGeom>
          <a:noFill/>
        </p:spPr>
        <p:txBody>
          <a:bodyPr wrap="square">
            <a:spAutoFit/>
          </a:bodyPr>
          <a:lstStyle/>
          <a:p>
            <a:pPr algn="ctr"/>
            <a:r>
              <a:rPr sz="1400" b="1" i="0">
                <a:solidFill>
                  <a:srgbClr val="FFFFFF"/>
                </a:solidFill>
              </a:rPr>
              <a:t>Road Class alone</a:t>
            </a:r>
          </a:p>
        </p:txBody>
      </p:sp>
      <p:sp>
        <p:nvSpPr>
          <p:cNvPr id="12" name="TextBox 11"/>
          <p:cNvSpPr txBox="1"/>
          <p:nvPr/>
        </p:nvSpPr>
        <p:spPr>
          <a:xfrm>
            <a:off x="4114800" y="2633472"/>
            <a:ext cx="3474720" cy="347472"/>
          </a:xfrm>
          <a:prstGeom prst="rect">
            <a:avLst/>
          </a:prstGeom>
          <a:noFill/>
        </p:spPr>
        <p:txBody>
          <a:bodyPr wrap="square">
            <a:spAutoFit/>
          </a:bodyPr>
          <a:lstStyle/>
          <a:p>
            <a:pPr algn="ctr"/>
            <a:r>
              <a:rPr sz="1100" b="0" i="1">
                <a:solidFill>
                  <a:srgbClr val="B8D8F0"/>
                </a:solidFill>
              </a:rPr>
              <a:t>Baseline R²</a:t>
            </a:r>
          </a:p>
        </p:txBody>
      </p:sp>
      <p:sp>
        <p:nvSpPr>
          <p:cNvPr id="13" name="Rounded Rectangle 12"/>
          <p:cNvSpPr/>
          <p:nvPr/>
        </p:nvSpPr>
        <p:spPr>
          <a:xfrm>
            <a:off x="7863840" y="1280160"/>
            <a:ext cx="3776472" cy="1828800"/>
          </a:xfrm>
          <a:prstGeom prst="roundRect">
            <a:avLst>
              <a:gd name="adj" fmla="val 8000"/>
            </a:avLst>
          </a:prstGeom>
          <a:solidFill>
            <a:srgbClr val="2C3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1371600"/>
            <a:ext cx="3776472" cy="822960"/>
          </a:xfrm>
          <a:prstGeom prst="rect">
            <a:avLst/>
          </a:prstGeom>
          <a:noFill/>
        </p:spPr>
        <p:txBody>
          <a:bodyPr wrap="square">
            <a:spAutoFit/>
          </a:bodyPr>
          <a:lstStyle/>
          <a:p>
            <a:pPr algn="ctr"/>
            <a:r>
              <a:rPr sz="4400" b="1" i="0">
                <a:solidFill>
                  <a:srgbClr val="00C2E0"/>
                </a:solidFill>
              </a:rPr>
              <a:t>+0.020</a:t>
            </a:r>
          </a:p>
        </p:txBody>
      </p:sp>
      <p:sp>
        <p:nvSpPr>
          <p:cNvPr id="15" name="TextBox 14"/>
          <p:cNvSpPr txBox="1"/>
          <p:nvPr/>
        </p:nvSpPr>
        <p:spPr>
          <a:xfrm>
            <a:off x="7863840" y="2194560"/>
            <a:ext cx="3776472" cy="457200"/>
          </a:xfrm>
          <a:prstGeom prst="rect">
            <a:avLst/>
          </a:prstGeom>
          <a:noFill/>
        </p:spPr>
        <p:txBody>
          <a:bodyPr wrap="square">
            <a:spAutoFit/>
          </a:bodyPr>
          <a:lstStyle/>
          <a:p>
            <a:pPr algn="ctr"/>
            <a:r>
              <a:rPr sz="1400" b="1" i="0">
                <a:solidFill>
                  <a:srgbClr val="FFFFFF"/>
                </a:solidFill>
              </a:rPr>
              <a:t>Improvement</a:t>
            </a:r>
          </a:p>
        </p:txBody>
      </p:sp>
      <p:sp>
        <p:nvSpPr>
          <p:cNvPr id="16" name="TextBox 15"/>
          <p:cNvSpPr txBox="1"/>
          <p:nvPr/>
        </p:nvSpPr>
        <p:spPr>
          <a:xfrm>
            <a:off x="7863840" y="2633472"/>
            <a:ext cx="3776472" cy="347472"/>
          </a:xfrm>
          <a:prstGeom prst="rect">
            <a:avLst/>
          </a:prstGeom>
          <a:noFill/>
        </p:spPr>
        <p:txBody>
          <a:bodyPr wrap="square">
            <a:spAutoFit/>
          </a:bodyPr>
          <a:lstStyle/>
          <a:p>
            <a:pPr algn="ctr"/>
            <a:r>
              <a:rPr sz="1100" b="0" i="1">
                <a:solidFill>
                  <a:srgbClr val="B8D8F0"/>
                </a:solidFill>
              </a:rPr>
              <a:t>From adding clusters</a:t>
            </a:r>
          </a:p>
        </p:txBody>
      </p:sp>
      <p:sp>
        <p:nvSpPr>
          <p:cNvPr id="17" name="Rounded Rectangle 16"/>
          <p:cNvSpPr/>
          <p:nvPr/>
        </p:nvSpPr>
        <p:spPr>
          <a:xfrm>
            <a:off x="365760" y="3383280"/>
            <a:ext cx="11457432" cy="3246120"/>
          </a:xfrm>
          <a:prstGeom prst="roundRect">
            <a:avLst>
              <a:gd name="adj" fmla="val 8000"/>
            </a:avLst>
          </a:prstGeom>
          <a:solidFill>
            <a:srgbClr val="11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474720"/>
            <a:ext cx="3657600" cy="457200"/>
          </a:xfrm>
          <a:prstGeom prst="rect">
            <a:avLst/>
          </a:prstGeom>
          <a:noFill/>
        </p:spPr>
        <p:txBody>
          <a:bodyPr wrap="square">
            <a:spAutoFit/>
          </a:bodyPr>
          <a:lstStyle/>
          <a:p>
            <a:pPr algn="l"/>
            <a:r>
              <a:rPr sz="1300" b="1" i="0">
                <a:solidFill>
                  <a:srgbClr val="00C2E0"/>
                </a:solidFill>
              </a:rPr>
              <a:t>R²  by feature set</a:t>
            </a:r>
          </a:p>
        </p:txBody>
      </p:sp>
      <p:sp>
        <p:nvSpPr>
          <p:cNvPr id="19" name="Rectangle 18"/>
          <p:cNvSpPr/>
          <p:nvPr/>
        </p:nvSpPr>
        <p:spPr>
          <a:xfrm>
            <a:off x="4754880" y="3474720"/>
            <a:ext cx="6858000" cy="402336"/>
          </a:xfrm>
          <a:prstGeom prst="rect">
            <a:avLst/>
          </a:prstGeom>
          <a:solidFill>
            <a:srgbClr val="1B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54880" y="3474720"/>
            <a:ext cx="6146800" cy="402336"/>
          </a:xfrm>
          <a:prstGeom prst="rect">
            <a:avLst/>
          </a:prstGeom>
          <a:solidFill>
            <a:srgbClr val="00C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520439"/>
            <a:ext cx="4160520" cy="356616"/>
          </a:xfrm>
          <a:prstGeom prst="rect">
            <a:avLst/>
          </a:prstGeom>
          <a:noFill/>
        </p:spPr>
        <p:txBody>
          <a:bodyPr wrap="square">
            <a:spAutoFit/>
          </a:bodyPr>
          <a:lstStyle/>
          <a:p>
            <a:pPr algn="l"/>
            <a:r>
              <a:rPr sz="1200" b="1" i="0">
                <a:solidFill>
                  <a:srgbClr val="FFFFFF"/>
                </a:solidFill>
              </a:rPr>
              <a:t>RC + GMM clusters</a:t>
            </a:r>
          </a:p>
        </p:txBody>
      </p:sp>
      <p:sp>
        <p:nvSpPr>
          <p:cNvPr id="22" name="TextBox 21"/>
          <p:cNvSpPr txBox="1"/>
          <p:nvPr/>
        </p:nvSpPr>
        <p:spPr>
          <a:xfrm>
            <a:off x="10974832" y="3520439"/>
            <a:ext cx="640080" cy="356616"/>
          </a:xfrm>
          <a:prstGeom prst="rect">
            <a:avLst/>
          </a:prstGeom>
          <a:noFill/>
        </p:spPr>
        <p:txBody>
          <a:bodyPr wrap="square">
            <a:spAutoFit/>
          </a:bodyPr>
          <a:lstStyle/>
          <a:p>
            <a:pPr algn="l"/>
            <a:r>
              <a:rPr sz="1200" b="1" i="0">
                <a:solidFill>
                  <a:srgbClr val="00C974"/>
                </a:solidFill>
              </a:rPr>
              <a:t>0.801</a:t>
            </a:r>
          </a:p>
        </p:txBody>
      </p:sp>
      <p:sp>
        <p:nvSpPr>
          <p:cNvPr id="23" name="Rectangle 22"/>
          <p:cNvSpPr/>
          <p:nvPr/>
        </p:nvSpPr>
        <p:spPr>
          <a:xfrm>
            <a:off x="4754880" y="3941063"/>
            <a:ext cx="6858000" cy="402336"/>
          </a:xfrm>
          <a:prstGeom prst="rect">
            <a:avLst/>
          </a:prstGeom>
          <a:solidFill>
            <a:srgbClr val="1B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0" y="3941063"/>
            <a:ext cx="6146800" cy="402336"/>
          </a:xfrm>
          <a:prstGeom prst="rect">
            <a:avLst/>
          </a:prstGeom>
          <a:solidFill>
            <a:srgbClr val="00C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986783"/>
            <a:ext cx="4160520" cy="356616"/>
          </a:xfrm>
          <a:prstGeom prst="rect">
            <a:avLst/>
          </a:prstGeom>
          <a:noFill/>
        </p:spPr>
        <p:txBody>
          <a:bodyPr wrap="square">
            <a:spAutoFit/>
          </a:bodyPr>
          <a:lstStyle/>
          <a:p>
            <a:pPr algn="l"/>
            <a:r>
              <a:rPr sz="1200" b="1" i="0">
                <a:solidFill>
                  <a:srgbClr val="FFFFFF"/>
                </a:solidFill>
              </a:rPr>
              <a:t>RC + K-Means</a:t>
            </a:r>
          </a:p>
        </p:txBody>
      </p:sp>
      <p:sp>
        <p:nvSpPr>
          <p:cNvPr id="26" name="TextBox 25"/>
          <p:cNvSpPr txBox="1"/>
          <p:nvPr/>
        </p:nvSpPr>
        <p:spPr>
          <a:xfrm>
            <a:off x="10974832" y="3986783"/>
            <a:ext cx="640080" cy="356616"/>
          </a:xfrm>
          <a:prstGeom prst="rect">
            <a:avLst/>
          </a:prstGeom>
          <a:noFill/>
        </p:spPr>
        <p:txBody>
          <a:bodyPr wrap="square">
            <a:spAutoFit/>
          </a:bodyPr>
          <a:lstStyle/>
          <a:p>
            <a:pPr algn="l"/>
            <a:r>
              <a:rPr sz="1200" b="1" i="0">
                <a:solidFill>
                  <a:srgbClr val="00C974"/>
                </a:solidFill>
              </a:rPr>
              <a:t>0.801</a:t>
            </a:r>
          </a:p>
        </p:txBody>
      </p:sp>
      <p:sp>
        <p:nvSpPr>
          <p:cNvPr id="27" name="Rectangle 26"/>
          <p:cNvSpPr/>
          <p:nvPr/>
        </p:nvSpPr>
        <p:spPr>
          <a:xfrm>
            <a:off x="4754880" y="4407408"/>
            <a:ext cx="6858000" cy="402336"/>
          </a:xfrm>
          <a:prstGeom prst="rect">
            <a:avLst/>
          </a:prstGeom>
          <a:solidFill>
            <a:srgbClr val="11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54880" y="4407408"/>
            <a:ext cx="5130800" cy="402336"/>
          </a:xfrm>
          <a:prstGeom prst="rect">
            <a:avLst/>
          </a:prstGeom>
          <a:solidFill>
            <a:srgbClr val="FFC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453128"/>
            <a:ext cx="4160520" cy="356616"/>
          </a:xfrm>
          <a:prstGeom prst="rect">
            <a:avLst/>
          </a:prstGeom>
          <a:noFill/>
        </p:spPr>
        <p:txBody>
          <a:bodyPr wrap="square">
            <a:spAutoFit/>
          </a:bodyPr>
          <a:lstStyle/>
          <a:p>
            <a:pPr algn="l"/>
            <a:r>
              <a:rPr sz="1200" b="0" i="0">
                <a:solidFill>
                  <a:srgbClr val="B8D8F0"/>
                </a:solidFill>
              </a:rPr>
              <a:t>Road Class only</a:t>
            </a:r>
          </a:p>
        </p:txBody>
      </p:sp>
      <p:sp>
        <p:nvSpPr>
          <p:cNvPr id="30" name="TextBox 29"/>
          <p:cNvSpPr txBox="1"/>
          <p:nvPr/>
        </p:nvSpPr>
        <p:spPr>
          <a:xfrm>
            <a:off x="9958832" y="4453128"/>
            <a:ext cx="640080" cy="356616"/>
          </a:xfrm>
          <a:prstGeom prst="rect">
            <a:avLst/>
          </a:prstGeom>
          <a:noFill/>
        </p:spPr>
        <p:txBody>
          <a:bodyPr wrap="square">
            <a:spAutoFit/>
          </a:bodyPr>
          <a:lstStyle/>
          <a:p>
            <a:pPr algn="l"/>
            <a:r>
              <a:rPr sz="1200" b="0" i="0">
                <a:solidFill>
                  <a:srgbClr val="FFCA3A"/>
                </a:solidFill>
              </a:rPr>
              <a:t>0.781</a:t>
            </a:r>
          </a:p>
        </p:txBody>
      </p:sp>
      <p:sp>
        <p:nvSpPr>
          <p:cNvPr id="31" name="Rectangle 30"/>
          <p:cNvSpPr/>
          <p:nvPr/>
        </p:nvSpPr>
        <p:spPr>
          <a:xfrm>
            <a:off x="4754880" y="4873752"/>
            <a:ext cx="6858000" cy="402336"/>
          </a:xfrm>
          <a:prstGeom prst="rect">
            <a:avLst/>
          </a:prstGeom>
          <a:solidFill>
            <a:srgbClr val="11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4880" y="4873752"/>
            <a:ext cx="1676399" cy="402336"/>
          </a:xfrm>
          <a:prstGeom prst="rect">
            <a:avLst/>
          </a:prstGeom>
          <a:solidFill>
            <a:srgbClr val="B8D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4919472"/>
            <a:ext cx="4160520" cy="356616"/>
          </a:xfrm>
          <a:prstGeom prst="rect">
            <a:avLst/>
          </a:prstGeom>
          <a:noFill/>
        </p:spPr>
        <p:txBody>
          <a:bodyPr wrap="square">
            <a:spAutoFit/>
          </a:bodyPr>
          <a:lstStyle/>
          <a:p>
            <a:pPr algn="l"/>
            <a:r>
              <a:rPr sz="1200" b="0" i="0">
                <a:solidFill>
                  <a:srgbClr val="B8D8F0"/>
                </a:solidFill>
              </a:rPr>
              <a:t>K-Means only</a:t>
            </a:r>
          </a:p>
        </p:txBody>
      </p:sp>
      <p:sp>
        <p:nvSpPr>
          <p:cNvPr id="34" name="TextBox 33"/>
          <p:cNvSpPr txBox="1"/>
          <p:nvPr/>
        </p:nvSpPr>
        <p:spPr>
          <a:xfrm>
            <a:off x="6504431" y="4919472"/>
            <a:ext cx="640080" cy="356616"/>
          </a:xfrm>
          <a:prstGeom prst="rect">
            <a:avLst/>
          </a:prstGeom>
          <a:noFill/>
        </p:spPr>
        <p:txBody>
          <a:bodyPr wrap="square">
            <a:spAutoFit/>
          </a:bodyPr>
          <a:lstStyle/>
          <a:p>
            <a:pPr algn="l"/>
            <a:r>
              <a:rPr sz="1200" b="0" i="0">
                <a:solidFill>
                  <a:srgbClr val="B8D8F0"/>
                </a:solidFill>
              </a:rPr>
              <a:t>0.713</a:t>
            </a:r>
          </a:p>
        </p:txBody>
      </p:sp>
      <p:sp>
        <p:nvSpPr>
          <p:cNvPr id="35" name="Rectangle 34"/>
          <p:cNvSpPr/>
          <p:nvPr/>
        </p:nvSpPr>
        <p:spPr>
          <a:xfrm>
            <a:off x="4754880" y="5340096"/>
            <a:ext cx="6858000" cy="402336"/>
          </a:xfrm>
          <a:prstGeom prst="rect">
            <a:avLst/>
          </a:prstGeom>
          <a:solidFill>
            <a:srgbClr val="11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4880" y="5340096"/>
            <a:ext cx="1574799" cy="402336"/>
          </a:xfrm>
          <a:prstGeom prst="rect">
            <a:avLst/>
          </a:prstGeom>
          <a:solidFill>
            <a:srgbClr val="B8D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5385816"/>
            <a:ext cx="4160520" cy="356616"/>
          </a:xfrm>
          <a:prstGeom prst="rect">
            <a:avLst/>
          </a:prstGeom>
          <a:noFill/>
        </p:spPr>
        <p:txBody>
          <a:bodyPr wrap="square">
            <a:spAutoFit/>
          </a:bodyPr>
          <a:lstStyle/>
          <a:p>
            <a:pPr algn="l"/>
            <a:r>
              <a:rPr sz="1200" b="0" i="0">
                <a:solidFill>
                  <a:srgbClr val="B8D8F0"/>
                </a:solidFill>
              </a:rPr>
              <a:t>HDBSCAN only</a:t>
            </a:r>
          </a:p>
        </p:txBody>
      </p:sp>
      <p:sp>
        <p:nvSpPr>
          <p:cNvPr id="38" name="TextBox 37"/>
          <p:cNvSpPr txBox="1"/>
          <p:nvPr/>
        </p:nvSpPr>
        <p:spPr>
          <a:xfrm>
            <a:off x="6402831" y="5385816"/>
            <a:ext cx="640080" cy="356616"/>
          </a:xfrm>
          <a:prstGeom prst="rect">
            <a:avLst/>
          </a:prstGeom>
          <a:noFill/>
        </p:spPr>
        <p:txBody>
          <a:bodyPr wrap="square">
            <a:spAutoFit/>
          </a:bodyPr>
          <a:lstStyle/>
          <a:p>
            <a:pPr algn="l"/>
            <a:r>
              <a:rPr sz="1200" b="0" i="0">
                <a:solidFill>
                  <a:srgbClr val="B8D8F0"/>
                </a:solidFill>
              </a:rPr>
              <a:t>0.711</a:t>
            </a:r>
          </a:p>
        </p:txBody>
      </p:sp>
      <p:sp>
        <p:nvSpPr>
          <p:cNvPr id="39" name="Rectangle 38"/>
          <p:cNvSpPr/>
          <p:nvPr/>
        </p:nvSpPr>
        <p:spPr>
          <a:xfrm>
            <a:off x="4754880" y="5806440"/>
            <a:ext cx="6858000" cy="402336"/>
          </a:xfrm>
          <a:prstGeom prst="rect">
            <a:avLst/>
          </a:prstGeom>
          <a:solidFill>
            <a:srgbClr val="11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4880" y="5806440"/>
            <a:ext cx="1473199" cy="402336"/>
          </a:xfrm>
          <a:prstGeom prst="rect">
            <a:avLst/>
          </a:prstGeom>
          <a:solidFill>
            <a:srgbClr val="2C3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5852159"/>
            <a:ext cx="4160520" cy="356616"/>
          </a:xfrm>
          <a:prstGeom prst="rect">
            <a:avLst/>
          </a:prstGeom>
          <a:noFill/>
        </p:spPr>
        <p:txBody>
          <a:bodyPr wrap="square">
            <a:spAutoFit/>
          </a:bodyPr>
          <a:lstStyle/>
          <a:p>
            <a:pPr algn="l"/>
            <a:r>
              <a:rPr sz="1200" b="0" i="0">
                <a:solidFill>
                  <a:srgbClr val="B8D8F0"/>
                </a:solidFill>
              </a:rPr>
              <a:t>Baseline (no clusters)</a:t>
            </a:r>
          </a:p>
        </p:txBody>
      </p:sp>
      <p:sp>
        <p:nvSpPr>
          <p:cNvPr id="42" name="TextBox 41"/>
          <p:cNvSpPr txBox="1"/>
          <p:nvPr/>
        </p:nvSpPr>
        <p:spPr>
          <a:xfrm>
            <a:off x="6301231" y="5852159"/>
            <a:ext cx="640080" cy="356616"/>
          </a:xfrm>
          <a:prstGeom prst="rect">
            <a:avLst/>
          </a:prstGeom>
          <a:noFill/>
        </p:spPr>
        <p:txBody>
          <a:bodyPr wrap="square">
            <a:spAutoFit/>
          </a:bodyPr>
          <a:lstStyle/>
          <a:p>
            <a:pPr algn="l"/>
            <a:r>
              <a:rPr sz="1200" b="0" i="0">
                <a:solidFill>
                  <a:srgbClr val="2C3E55"/>
                </a:solidFill>
              </a:rPr>
              <a:t>0.709</a:t>
            </a:r>
          </a:p>
        </p:txBody>
      </p:sp>
      <p:sp>
        <p:nvSpPr>
          <p:cNvPr id="43" name="Rectangle 42"/>
          <p:cNvSpPr/>
          <p:nvPr/>
        </p:nvSpPr>
        <p:spPr>
          <a:xfrm>
            <a:off x="9885680" y="3474720"/>
            <a:ext cx="22860" cy="2734056"/>
          </a:xfrm>
          <a:prstGeom prst="rect">
            <a:avLst/>
          </a:prstGeom>
          <a:solidFill>
            <a:srgbClr val="FFC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972800" cy="804672"/>
          </a:xfrm>
          <a:prstGeom prst="rect">
            <a:avLst/>
          </a:prstGeom>
          <a:noFill/>
        </p:spPr>
        <p:txBody>
          <a:bodyPr wrap="square">
            <a:spAutoFit/>
          </a:bodyPr>
          <a:lstStyle/>
          <a:p>
            <a:pPr algn="l"/>
            <a:r>
              <a:rPr sz="2800" b="1" i="0">
                <a:solidFill>
                  <a:srgbClr val="FFFFFF"/>
                </a:solidFill>
              </a:rPr>
              <a:t>Why Does Imagery Add Value?</a:t>
            </a:r>
          </a:p>
        </p:txBody>
      </p:sp>
      <p:sp>
        <p:nvSpPr>
          <p:cNvPr id="4" name="Rectangle 3"/>
          <p:cNvSpPr/>
          <p:nvPr/>
        </p:nvSpPr>
        <p:spPr>
          <a:xfrm>
            <a:off x="0" y="1024128"/>
            <a:ext cx="12188952" cy="45720"/>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188720"/>
            <a:ext cx="5394960" cy="457200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280160"/>
            <a:ext cx="5394960" cy="1188720"/>
          </a:xfrm>
          <a:prstGeom prst="rect">
            <a:avLst/>
          </a:prstGeom>
          <a:noFill/>
        </p:spPr>
        <p:txBody>
          <a:bodyPr wrap="square">
            <a:spAutoFit/>
          </a:bodyPr>
          <a:lstStyle/>
          <a:p>
            <a:pPr algn="ctr"/>
            <a:r>
              <a:rPr sz="6000" b="0" i="0">
                <a:solidFill>
                  <a:srgbClr val="FFFFFF"/>
                </a:solidFill>
              </a:rPr>
              <a:t>🏷️</a:t>
            </a:r>
          </a:p>
        </p:txBody>
      </p:sp>
      <p:sp>
        <p:nvSpPr>
          <p:cNvPr id="7" name="TextBox 6"/>
          <p:cNvSpPr txBox="1"/>
          <p:nvPr/>
        </p:nvSpPr>
        <p:spPr>
          <a:xfrm>
            <a:off x="274320" y="2468880"/>
            <a:ext cx="5394960" cy="548640"/>
          </a:xfrm>
          <a:prstGeom prst="rect">
            <a:avLst/>
          </a:prstGeom>
          <a:noFill/>
        </p:spPr>
        <p:txBody>
          <a:bodyPr wrap="square">
            <a:spAutoFit/>
          </a:bodyPr>
          <a:lstStyle/>
          <a:p>
            <a:pPr algn="ctr"/>
            <a:r>
              <a:rPr sz="2000" b="1" i="0">
                <a:solidFill>
                  <a:srgbClr val="FFCA3A"/>
                </a:solidFill>
              </a:rPr>
              <a:t>Road Class</a:t>
            </a:r>
          </a:p>
        </p:txBody>
      </p:sp>
      <p:sp>
        <p:nvSpPr>
          <p:cNvPr id="8" name="TextBox 7"/>
          <p:cNvSpPr txBox="1"/>
          <p:nvPr/>
        </p:nvSpPr>
        <p:spPr>
          <a:xfrm>
            <a:off x="502920" y="3108960"/>
            <a:ext cx="4937760" cy="548640"/>
          </a:xfrm>
          <a:prstGeom prst="rect">
            <a:avLst/>
          </a:prstGeom>
          <a:noFill/>
        </p:spPr>
        <p:txBody>
          <a:bodyPr wrap="square">
            <a:spAutoFit/>
          </a:bodyPr>
          <a:lstStyle/>
          <a:p>
            <a:pPr algn="l"/>
            <a:r>
              <a:rPr sz="1400" b="0" i="0">
                <a:solidFill>
                  <a:srgbClr val="FFFFFF"/>
                </a:solidFill>
              </a:rPr>
              <a:t>Functional hierarchy</a:t>
            </a:r>
          </a:p>
        </p:txBody>
      </p:sp>
      <p:sp>
        <p:nvSpPr>
          <p:cNvPr id="9" name="TextBox 8"/>
          <p:cNvSpPr txBox="1"/>
          <p:nvPr/>
        </p:nvSpPr>
        <p:spPr>
          <a:xfrm>
            <a:off x="502920" y="3703320"/>
            <a:ext cx="4937760" cy="548640"/>
          </a:xfrm>
          <a:prstGeom prst="rect">
            <a:avLst/>
          </a:prstGeom>
          <a:noFill/>
        </p:spPr>
        <p:txBody>
          <a:bodyPr wrap="square">
            <a:spAutoFit/>
          </a:bodyPr>
          <a:lstStyle/>
          <a:p>
            <a:pPr algn="l"/>
            <a:r>
              <a:rPr sz="1400" b="0" i="0">
                <a:solidFill>
                  <a:srgbClr val="FFFFFF"/>
                </a:solidFill>
              </a:rPr>
              <a:t>Design standard</a:t>
            </a:r>
          </a:p>
        </p:txBody>
      </p:sp>
      <p:sp>
        <p:nvSpPr>
          <p:cNvPr id="10" name="TextBox 9"/>
          <p:cNvSpPr txBox="1"/>
          <p:nvPr/>
        </p:nvSpPr>
        <p:spPr>
          <a:xfrm>
            <a:off x="502920" y="4297680"/>
            <a:ext cx="4937760" cy="548640"/>
          </a:xfrm>
          <a:prstGeom prst="rect">
            <a:avLst/>
          </a:prstGeom>
          <a:noFill/>
        </p:spPr>
        <p:txBody>
          <a:bodyPr wrap="square">
            <a:spAutoFit/>
          </a:bodyPr>
          <a:lstStyle/>
          <a:p>
            <a:pPr algn="l"/>
            <a:r>
              <a:rPr sz="1400" b="0" i="0">
                <a:solidFill>
                  <a:srgbClr val="FFFFFF"/>
                </a:solidFill>
              </a:rPr>
              <a:t>Same label everywhere</a:t>
            </a:r>
          </a:p>
        </p:txBody>
      </p:sp>
      <p:sp>
        <p:nvSpPr>
          <p:cNvPr id="11" name="TextBox 10"/>
          <p:cNvSpPr txBox="1"/>
          <p:nvPr/>
        </p:nvSpPr>
        <p:spPr>
          <a:xfrm>
            <a:off x="502920" y="4892040"/>
            <a:ext cx="4937760" cy="548640"/>
          </a:xfrm>
          <a:prstGeom prst="rect">
            <a:avLst/>
          </a:prstGeom>
          <a:noFill/>
        </p:spPr>
        <p:txBody>
          <a:bodyPr wrap="square">
            <a:spAutoFit/>
          </a:bodyPr>
          <a:lstStyle/>
          <a:p>
            <a:pPr algn="l"/>
            <a:r>
              <a:rPr sz="1400" b="0" i="0">
                <a:solidFill>
                  <a:srgbClr val="FFFFFF"/>
                </a:solidFill>
              </a:rPr>
              <a:t>Ignores surroundings</a:t>
            </a:r>
          </a:p>
        </p:txBody>
      </p:sp>
      <p:sp>
        <p:nvSpPr>
          <p:cNvPr id="12" name="TextBox 11"/>
          <p:cNvSpPr txBox="1"/>
          <p:nvPr/>
        </p:nvSpPr>
        <p:spPr>
          <a:xfrm>
            <a:off x="320040" y="4892040"/>
            <a:ext cx="365760" cy="548640"/>
          </a:xfrm>
          <a:prstGeom prst="rect">
            <a:avLst/>
          </a:prstGeom>
          <a:noFill/>
        </p:spPr>
        <p:txBody>
          <a:bodyPr wrap="square">
            <a:spAutoFit/>
          </a:bodyPr>
          <a:lstStyle/>
          <a:p>
            <a:pPr algn="l"/>
            <a:r>
              <a:rPr sz="1600" b="1" i="0">
                <a:solidFill>
                  <a:srgbClr val="FF4D6D"/>
                </a:solidFill>
              </a:rPr>
              <a:t>✗</a:t>
            </a:r>
          </a:p>
        </p:txBody>
      </p:sp>
      <p:sp>
        <p:nvSpPr>
          <p:cNvPr id="13" name="Rounded Rectangle 12"/>
          <p:cNvSpPr/>
          <p:nvPr/>
        </p:nvSpPr>
        <p:spPr>
          <a:xfrm>
            <a:off x="6035040" y="1188720"/>
            <a:ext cx="5879592" cy="457200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1280160"/>
            <a:ext cx="5879592" cy="1188720"/>
          </a:xfrm>
          <a:prstGeom prst="rect">
            <a:avLst/>
          </a:prstGeom>
          <a:noFill/>
        </p:spPr>
        <p:txBody>
          <a:bodyPr wrap="square">
            <a:spAutoFit/>
          </a:bodyPr>
          <a:lstStyle/>
          <a:p>
            <a:pPr algn="ctr"/>
            <a:r>
              <a:rPr sz="6000" b="0" i="0">
                <a:solidFill>
                  <a:srgbClr val="FFFFFF"/>
                </a:solidFill>
              </a:rPr>
              <a:t>🛰️</a:t>
            </a:r>
          </a:p>
        </p:txBody>
      </p:sp>
      <p:sp>
        <p:nvSpPr>
          <p:cNvPr id="15" name="TextBox 14"/>
          <p:cNvSpPr txBox="1"/>
          <p:nvPr/>
        </p:nvSpPr>
        <p:spPr>
          <a:xfrm>
            <a:off x="6035040" y="2468880"/>
            <a:ext cx="5879592" cy="548640"/>
          </a:xfrm>
          <a:prstGeom prst="rect">
            <a:avLst/>
          </a:prstGeom>
          <a:noFill/>
        </p:spPr>
        <p:txBody>
          <a:bodyPr wrap="square">
            <a:spAutoFit/>
          </a:bodyPr>
          <a:lstStyle/>
          <a:p>
            <a:pPr algn="ctr"/>
            <a:r>
              <a:rPr sz="2000" b="1" i="0">
                <a:solidFill>
                  <a:srgbClr val="00C2E0"/>
                </a:solidFill>
              </a:rPr>
              <a:t>Satellite Imagery</a:t>
            </a:r>
          </a:p>
        </p:txBody>
      </p:sp>
      <p:sp>
        <p:nvSpPr>
          <p:cNvPr id="16" name="TextBox 15"/>
          <p:cNvSpPr txBox="1"/>
          <p:nvPr/>
        </p:nvSpPr>
        <p:spPr>
          <a:xfrm>
            <a:off x="6035040" y="3108960"/>
            <a:ext cx="457200" cy="548640"/>
          </a:xfrm>
          <a:prstGeom prst="rect">
            <a:avLst/>
          </a:prstGeom>
          <a:noFill/>
        </p:spPr>
        <p:txBody>
          <a:bodyPr wrap="square">
            <a:spAutoFit/>
          </a:bodyPr>
          <a:lstStyle/>
          <a:p>
            <a:pPr algn="l"/>
            <a:r>
              <a:rPr sz="1600" b="1" i="0">
                <a:solidFill>
                  <a:srgbClr val="00C974"/>
                </a:solidFill>
              </a:rPr>
              <a:t>✓</a:t>
            </a:r>
          </a:p>
        </p:txBody>
      </p:sp>
      <p:sp>
        <p:nvSpPr>
          <p:cNvPr id="17" name="TextBox 16"/>
          <p:cNvSpPr txBox="1"/>
          <p:nvPr/>
        </p:nvSpPr>
        <p:spPr>
          <a:xfrm>
            <a:off x="6492240" y="3108960"/>
            <a:ext cx="5212080" cy="548640"/>
          </a:xfrm>
          <a:prstGeom prst="rect">
            <a:avLst/>
          </a:prstGeom>
          <a:noFill/>
        </p:spPr>
        <p:txBody>
          <a:bodyPr wrap="square">
            <a:spAutoFit/>
          </a:bodyPr>
          <a:lstStyle/>
          <a:p>
            <a:pPr algn="l"/>
            <a:r>
              <a:rPr sz="1400" b="0" i="0">
                <a:solidFill>
                  <a:srgbClr val="FFFFFF"/>
                </a:solidFill>
              </a:rPr>
              <a:t>Dense urban vs suburban</a:t>
            </a:r>
          </a:p>
        </p:txBody>
      </p:sp>
      <p:sp>
        <p:nvSpPr>
          <p:cNvPr id="18" name="TextBox 17"/>
          <p:cNvSpPr txBox="1"/>
          <p:nvPr/>
        </p:nvSpPr>
        <p:spPr>
          <a:xfrm>
            <a:off x="6035040" y="3703320"/>
            <a:ext cx="457200" cy="548640"/>
          </a:xfrm>
          <a:prstGeom prst="rect">
            <a:avLst/>
          </a:prstGeom>
          <a:noFill/>
        </p:spPr>
        <p:txBody>
          <a:bodyPr wrap="square">
            <a:spAutoFit/>
          </a:bodyPr>
          <a:lstStyle/>
          <a:p>
            <a:pPr algn="l"/>
            <a:r>
              <a:rPr sz="1600" b="1" i="0">
                <a:solidFill>
                  <a:srgbClr val="00C974"/>
                </a:solidFill>
              </a:rPr>
              <a:t>✓</a:t>
            </a:r>
          </a:p>
        </p:txBody>
      </p:sp>
      <p:sp>
        <p:nvSpPr>
          <p:cNvPr id="19" name="TextBox 18"/>
          <p:cNvSpPr txBox="1"/>
          <p:nvPr/>
        </p:nvSpPr>
        <p:spPr>
          <a:xfrm>
            <a:off x="6492240" y="3703320"/>
            <a:ext cx="5212080" cy="548640"/>
          </a:xfrm>
          <a:prstGeom prst="rect">
            <a:avLst/>
          </a:prstGeom>
          <a:noFill/>
        </p:spPr>
        <p:txBody>
          <a:bodyPr wrap="square">
            <a:spAutoFit/>
          </a:bodyPr>
          <a:lstStyle/>
          <a:p>
            <a:pPr algn="l"/>
            <a:r>
              <a:rPr sz="1400" b="0" i="0">
                <a:solidFill>
                  <a:srgbClr val="FFFFFF"/>
                </a:solidFill>
              </a:rPr>
              <a:t>Land use context</a:t>
            </a:r>
          </a:p>
        </p:txBody>
      </p:sp>
      <p:sp>
        <p:nvSpPr>
          <p:cNvPr id="20" name="TextBox 19"/>
          <p:cNvSpPr txBox="1"/>
          <p:nvPr/>
        </p:nvSpPr>
        <p:spPr>
          <a:xfrm>
            <a:off x="6035040" y="4297680"/>
            <a:ext cx="457200" cy="548640"/>
          </a:xfrm>
          <a:prstGeom prst="rect">
            <a:avLst/>
          </a:prstGeom>
          <a:noFill/>
        </p:spPr>
        <p:txBody>
          <a:bodyPr wrap="square">
            <a:spAutoFit/>
          </a:bodyPr>
          <a:lstStyle/>
          <a:p>
            <a:pPr algn="l"/>
            <a:r>
              <a:rPr sz="1600" b="1" i="0">
                <a:solidFill>
                  <a:srgbClr val="00C974"/>
                </a:solidFill>
              </a:rPr>
              <a:t>✓</a:t>
            </a:r>
          </a:p>
        </p:txBody>
      </p:sp>
      <p:sp>
        <p:nvSpPr>
          <p:cNvPr id="21" name="TextBox 20"/>
          <p:cNvSpPr txBox="1"/>
          <p:nvPr/>
        </p:nvSpPr>
        <p:spPr>
          <a:xfrm>
            <a:off x="6492240" y="4297680"/>
            <a:ext cx="5212080" cy="548640"/>
          </a:xfrm>
          <a:prstGeom prst="rect">
            <a:avLst/>
          </a:prstGeom>
          <a:noFill/>
        </p:spPr>
        <p:txBody>
          <a:bodyPr wrap="square">
            <a:spAutoFit/>
          </a:bodyPr>
          <a:lstStyle/>
          <a:p>
            <a:pPr algn="l"/>
            <a:r>
              <a:rPr sz="1400" b="0" i="0">
                <a:solidFill>
                  <a:srgbClr val="FFFFFF"/>
                </a:solidFill>
              </a:rPr>
              <a:t>Road geometry from above</a:t>
            </a:r>
          </a:p>
        </p:txBody>
      </p:sp>
      <p:sp>
        <p:nvSpPr>
          <p:cNvPr id="22" name="TextBox 21"/>
          <p:cNvSpPr txBox="1"/>
          <p:nvPr/>
        </p:nvSpPr>
        <p:spPr>
          <a:xfrm>
            <a:off x="6035040" y="4892040"/>
            <a:ext cx="457200" cy="548640"/>
          </a:xfrm>
          <a:prstGeom prst="rect">
            <a:avLst/>
          </a:prstGeom>
          <a:noFill/>
        </p:spPr>
        <p:txBody>
          <a:bodyPr wrap="square">
            <a:spAutoFit/>
          </a:bodyPr>
          <a:lstStyle/>
          <a:p>
            <a:pPr algn="l"/>
            <a:r>
              <a:rPr sz="1600" b="1" i="0">
                <a:solidFill>
                  <a:srgbClr val="00C974"/>
                </a:solidFill>
              </a:rPr>
              <a:t>✓</a:t>
            </a:r>
          </a:p>
        </p:txBody>
      </p:sp>
      <p:sp>
        <p:nvSpPr>
          <p:cNvPr id="23" name="TextBox 22"/>
          <p:cNvSpPr txBox="1"/>
          <p:nvPr/>
        </p:nvSpPr>
        <p:spPr>
          <a:xfrm>
            <a:off x="6492240" y="4892040"/>
            <a:ext cx="5212080" cy="548640"/>
          </a:xfrm>
          <a:prstGeom prst="rect">
            <a:avLst/>
          </a:prstGeom>
          <a:noFill/>
        </p:spPr>
        <p:txBody>
          <a:bodyPr wrap="square">
            <a:spAutoFit/>
          </a:bodyPr>
          <a:lstStyle/>
          <a:p>
            <a:pPr algn="l"/>
            <a:r>
              <a:rPr sz="1400" b="0" i="0">
                <a:solidFill>
                  <a:srgbClr val="FFFFFF"/>
                </a:solidFill>
              </a:rPr>
              <a:t>Visual surroundings</a:t>
            </a:r>
          </a:p>
        </p:txBody>
      </p:sp>
      <p:sp>
        <p:nvSpPr>
          <p:cNvPr id="24" name="TextBox 23"/>
          <p:cNvSpPr txBox="1"/>
          <p:nvPr/>
        </p:nvSpPr>
        <p:spPr>
          <a:xfrm>
            <a:off x="5394960" y="3017520"/>
            <a:ext cx="822960" cy="822960"/>
          </a:xfrm>
          <a:prstGeom prst="rect">
            <a:avLst/>
          </a:prstGeom>
          <a:noFill/>
        </p:spPr>
        <p:txBody>
          <a:bodyPr wrap="square">
            <a:spAutoFit/>
          </a:bodyPr>
          <a:lstStyle/>
          <a:p>
            <a:pPr algn="ctr"/>
            <a:r>
              <a:rPr sz="2200" b="1" i="0">
                <a:solidFill>
                  <a:srgbClr val="B8D8F0"/>
                </a:solidFill>
              </a:rPr>
              <a:t>VS</a:t>
            </a:r>
          </a:p>
        </p:txBody>
      </p:sp>
      <p:sp>
        <p:nvSpPr>
          <p:cNvPr id="25" name="Rectangle 24"/>
          <p:cNvSpPr/>
          <p:nvPr/>
        </p:nvSpPr>
        <p:spPr>
          <a:xfrm>
            <a:off x="5650992" y="1188720"/>
            <a:ext cx="36576" cy="4572000"/>
          </a:xfrm>
          <a:prstGeom prst="rect">
            <a:avLst/>
          </a:prstGeom>
          <a:solidFill>
            <a:srgbClr val="2C3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4320" y="5943600"/>
            <a:ext cx="11640312" cy="685800"/>
          </a:xfrm>
          <a:prstGeom prst="roundRect">
            <a:avLst>
              <a:gd name="adj" fmla="val 8000"/>
            </a:avLst>
          </a:prstGeom>
          <a:solidFill>
            <a:srgbClr val="2C3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5989320"/>
            <a:ext cx="11338560" cy="594360"/>
          </a:xfrm>
          <a:prstGeom prst="rect">
            <a:avLst/>
          </a:prstGeom>
          <a:noFill/>
        </p:spPr>
        <p:txBody>
          <a:bodyPr wrap="square">
            <a:spAutoFit/>
          </a:bodyPr>
          <a:lstStyle/>
          <a:p>
            <a:pPr algn="ctr"/>
            <a:r>
              <a:rPr sz="1300" b="0" i="1">
                <a:solidFill>
                  <a:srgbClr val="FFCA3A"/>
                </a:solidFill>
              </a:rPr>
              <a:t>Two Minor Arterials — one in a dense city core, one in a quiet suburb — get the same Road Class label but very different AAWDT. Imagery tells them apart.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972800" cy="804672"/>
          </a:xfrm>
          <a:prstGeom prst="rect">
            <a:avLst/>
          </a:prstGeom>
          <a:noFill/>
        </p:spPr>
        <p:txBody>
          <a:bodyPr wrap="square">
            <a:spAutoFit/>
          </a:bodyPr>
          <a:lstStyle/>
          <a:p>
            <a:pPr algn="l"/>
            <a:r>
              <a:rPr sz="2800" b="1" i="0">
                <a:solidFill>
                  <a:srgbClr val="FFFFFF"/>
                </a:solidFill>
              </a:rPr>
              <a:t>Next Steps</a:t>
            </a:r>
          </a:p>
        </p:txBody>
      </p:sp>
      <p:sp>
        <p:nvSpPr>
          <p:cNvPr id="4" name="Rectangle 3"/>
          <p:cNvSpPr/>
          <p:nvPr/>
        </p:nvSpPr>
        <p:spPr>
          <a:xfrm>
            <a:off x="0" y="1024128"/>
            <a:ext cx="12188952" cy="45720"/>
          </a:xfrm>
          <a:prstGeom prst="rect">
            <a:avLst/>
          </a:prstGeom>
          <a:solidFill>
            <a:srgbClr val="00C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417320"/>
            <a:ext cx="4572000" cy="214884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508760"/>
            <a:ext cx="4572000" cy="914400"/>
          </a:xfrm>
          <a:prstGeom prst="rect">
            <a:avLst/>
          </a:prstGeom>
          <a:noFill/>
        </p:spPr>
        <p:txBody>
          <a:bodyPr wrap="square">
            <a:spAutoFit/>
          </a:bodyPr>
          <a:lstStyle/>
          <a:p>
            <a:pPr algn="ctr"/>
            <a:r>
              <a:rPr sz="4200" b="0" i="0">
                <a:solidFill>
                  <a:srgbClr val="FFFFFF"/>
                </a:solidFill>
              </a:rPr>
              <a:t>🔢</a:t>
            </a:r>
          </a:p>
        </p:txBody>
      </p:sp>
      <p:sp>
        <p:nvSpPr>
          <p:cNvPr id="7" name="TextBox 6"/>
          <p:cNvSpPr txBox="1"/>
          <p:nvPr/>
        </p:nvSpPr>
        <p:spPr>
          <a:xfrm>
            <a:off x="1097280" y="2423160"/>
            <a:ext cx="4572000" cy="640080"/>
          </a:xfrm>
          <a:prstGeom prst="rect">
            <a:avLst/>
          </a:prstGeom>
          <a:noFill/>
        </p:spPr>
        <p:txBody>
          <a:bodyPr wrap="square">
            <a:spAutoFit/>
          </a:bodyPr>
          <a:lstStyle/>
          <a:p>
            <a:pPr algn="ctr"/>
            <a:r>
              <a:rPr sz="1600" b="1" i="0">
                <a:solidFill>
                  <a:srgbClr val="00C2E0"/>
                </a:solidFill>
              </a:rPr>
              <a:t>Extend GMM
Sweep to g=40</a:t>
            </a:r>
          </a:p>
        </p:txBody>
      </p:sp>
      <p:sp>
        <p:nvSpPr>
          <p:cNvPr id="8" name="TextBox 7"/>
          <p:cNvSpPr txBox="1"/>
          <p:nvPr/>
        </p:nvSpPr>
        <p:spPr>
          <a:xfrm>
            <a:off x="1097280" y="3044952"/>
            <a:ext cx="4572000" cy="475488"/>
          </a:xfrm>
          <a:prstGeom prst="rect">
            <a:avLst/>
          </a:prstGeom>
          <a:noFill/>
        </p:spPr>
        <p:txBody>
          <a:bodyPr wrap="square">
            <a:spAutoFit/>
          </a:bodyPr>
          <a:lstStyle/>
          <a:p>
            <a:pPr algn="ctr"/>
            <a:r>
              <a:rPr sz="1200" b="0" i="1">
                <a:solidFill>
                  <a:srgbClr val="B8D8F0"/>
                </a:solidFill>
              </a:rPr>
              <a:t>Confirm optimal
cluster count</a:t>
            </a:r>
          </a:p>
        </p:txBody>
      </p:sp>
      <p:sp>
        <p:nvSpPr>
          <p:cNvPr id="9" name="Rounded Rectangle 8"/>
          <p:cNvSpPr/>
          <p:nvPr/>
        </p:nvSpPr>
        <p:spPr>
          <a:xfrm>
            <a:off x="6400800" y="1417320"/>
            <a:ext cx="4572000" cy="214884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572000" cy="914400"/>
          </a:xfrm>
          <a:prstGeom prst="rect">
            <a:avLst/>
          </a:prstGeom>
          <a:noFill/>
        </p:spPr>
        <p:txBody>
          <a:bodyPr wrap="square">
            <a:spAutoFit/>
          </a:bodyPr>
          <a:lstStyle/>
          <a:p>
            <a:pPr algn="ctr"/>
            <a:r>
              <a:rPr sz="4200" b="0" i="0">
                <a:solidFill>
                  <a:srgbClr val="FFFFFF"/>
                </a:solidFill>
              </a:rPr>
              <a:t>📋</a:t>
            </a:r>
          </a:p>
        </p:txBody>
      </p:sp>
      <p:sp>
        <p:nvSpPr>
          <p:cNvPr id="11" name="TextBox 10"/>
          <p:cNvSpPr txBox="1"/>
          <p:nvPr/>
        </p:nvSpPr>
        <p:spPr>
          <a:xfrm>
            <a:off x="6400800" y="2423160"/>
            <a:ext cx="4572000" cy="640080"/>
          </a:xfrm>
          <a:prstGeom prst="rect">
            <a:avLst/>
          </a:prstGeom>
          <a:noFill/>
        </p:spPr>
        <p:txBody>
          <a:bodyPr wrap="square">
            <a:spAutoFit/>
          </a:bodyPr>
          <a:lstStyle/>
          <a:p>
            <a:pPr algn="ctr"/>
            <a:r>
              <a:rPr sz="1600" b="1" i="0">
                <a:solidFill>
                  <a:srgbClr val="00C2E0"/>
                </a:solidFill>
              </a:rPr>
              <a:t>Held-Out
Test Set</a:t>
            </a:r>
          </a:p>
        </p:txBody>
      </p:sp>
      <p:sp>
        <p:nvSpPr>
          <p:cNvPr id="12" name="TextBox 11"/>
          <p:cNvSpPr txBox="1"/>
          <p:nvPr/>
        </p:nvSpPr>
        <p:spPr>
          <a:xfrm>
            <a:off x="6400800" y="3044952"/>
            <a:ext cx="4572000" cy="475488"/>
          </a:xfrm>
          <a:prstGeom prst="rect">
            <a:avLst/>
          </a:prstGeom>
          <a:noFill/>
        </p:spPr>
        <p:txBody>
          <a:bodyPr wrap="square">
            <a:spAutoFit/>
          </a:bodyPr>
          <a:lstStyle/>
          <a:p>
            <a:pPr algn="ctr"/>
            <a:r>
              <a:rPr sz="1200" b="0" i="1">
                <a:solidFill>
                  <a:srgbClr val="B8D8F0"/>
                </a:solidFill>
              </a:rPr>
              <a:t>Validate on
new data</a:t>
            </a:r>
          </a:p>
        </p:txBody>
      </p:sp>
      <p:sp>
        <p:nvSpPr>
          <p:cNvPr id="13" name="Rounded Rectangle 12"/>
          <p:cNvSpPr/>
          <p:nvPr/>
        </p:nvSpPr>
        <p:spPr>
          <a:xfrm>
            <a:off x="1097280" y="3840480"/>
            <a:ext cx="4572000" cy="214884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931920"/>
            <a:ext cx="4572000" cy="914400"/>
          </a:xfrm>
          <a:prstGeom prst="rect">
            <a:avLst/>
          </a:prstGeom>
          <a:noFill/>
        </p:spPr>
        <p:txBody>
          <a:bodyPr wrap="square">
            <a:spAutoFit/>
          </a:bodyPr>
          <a:lstStyle/>
          <a:p>
            <a:pPr algn="ctr"/>
            <a:r>
              <a:rPr sz="4200" b="0" i="0">
                <a:solidFill>
                  <a:srgbClr val="FFFFFF"/>
                </a:solidFill>
              </a:rPr>
              <a:t>🗺️</a:t>
            </a:r>
          </a:p>
        </p:txBody>
      </p:sp>
      <p:sp>
        <p:nvSpPr>
          <p:cNvPr id="15" name="TextBox 14"/>
          <p:cNvSpPr txBox="1"/>
          <p:nvPr/>
        </p:nvSpPr>
        <p:spPr>
          <a:xfrm>
            <a:off x="1097280" y="4846320"/>
            <a:ext cx="4572000" cy="640080"/>
          </a:xfrm>
          <a:prstGeom prst="rect">
            <a:avLst/>
          </a:prstGeom>
          <a:noFill/>
        </p:spPr>
        <p:txBody>
          <a:bodyPr wrap="square">
            <a:spAutoFit/>
          </a:bodyPr>
          <a:lstStyle/>
          <a:p>
            <a:pPr algn="ctr"/>
            <a:r>
              <a:rPr sz="1600" b="1" i="0">
                <a:solidFill>
                  <a:srgbClr val="00C2E0"/>
                </a:solidFill>
              </a:rPr>
              <a:t>Label Each
Cluster</a:t>
            </a:r>
          </a:p>
        </p:txBody>
      </p:sp>
      <p:sp>
        <p:nvSpPr>
          <p:cNvPr id="16" name="TextBox 15"/>
          <p:cNvSpPr txBox="1"/>
          <p:nvPr/>
        </p:nvSpPr>
        <p:spPr>
          <a:xfrm>
            <a:off x="1097280" y="5468112"/>
            <a:ext cx="4572000" cy="475488"/>
          </a:xfrm>
          <a:prstGeom prst="rect">
            <a:avLst/>
          </a:prstGeom>
          <a:noFill/>
        </p:spPr>
        <p:txBody>
          <a:bodyPr wrap="square">
            <a:spAutoFit/>
          </a:bodyPr>
          <a:lstStyle/>
          <a:p>
            <a:pPr algn="ctr"/>
            <a:r>
              <a:rPr sz="1200" b="0" i="1">
                <a:solidFill>
                  <a:srgbClr val="B8D8F0"/>
                </a:solidFill>
              </a:rPr>
              <a:t>e.g. 'Dense urban
arterial'</a:t>
            </a:r>
          </a:p>
        </p:txBody>
      </p:sp>
      <p:sp>
        <p:nvSpPr>
          <p:cNvPr id="17" name="Rounded Rectangle 16"/>
          <p:cNvSpPr/>
          <p:nvPr/>
        </p:nvSpPr>
        <p:spPr>
          <a:xfrm>
            <a:off x="6400800" y="3840480"/>
            <a:ext cx="4572000" cy="2148840"/>
          </a:xfrm>
          <a:prstGeom prst="roundRect">
            <a:avLst>
              <a:gd name="adj" fmla="val 8000"/>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931920"/>
            <a:ext cx="4572000" cy="914400"/>
          </a:xfrm>
          <a:prstGeom prst="rect">
            <a:avLst/>
          </a:prstGeom>
          <a:noFill/>
        </p:spPr>
        <p:txBody>
          <a:bodyPr wrap="square">
            <a:spAutoFit/>
          </a:bodyPr>
          <a:lstStyle/>
          <a:p>
            <a:pPr algn="ctr"/>
            <a:r>
              <a:rPr sz="4200" b="0" i="0">
                <a:solidFill>
                  <a:srgbClr val="FFFFFF"/>
                </a:solidFill>
              </a:rPr>
              <a:t>📝</a:t>
            </a:r>
          </a:p>
        </p:txBody>
      </p:sp>
      <p:sp>
        <p:nvSpPr>
          <p:cNvPr id="19" name="TextBox 18"/>
          <p:cNvSpPr txBox="1"/>
          <p:nvPr/>
        </p:nvSpPr>
        <p:spPr>
          <a:xfrm>
            <a:off x="6400800" y="4846320"/>
            <a:ext cx="4572000" cy="640080"/>
          </a:xfrm>
          <a:prstGeom prst="rect">
            <a:avLst/>
          </a:prstGeom>
          <a:noFill/>
        </p:spPr>
        <p:txBody>
          <a:bodyPr wrap="square">
            <a:spAutoFit/>
          </a:bodyPr>
          <a:lstStyle/>
          <a:p>
            <a:pPr algn="ctr"/>
            <a:r>
              <a:rPr sz="1600" b="1" i="0">
                <a:solidFill>
                  <a:srgbClr val="00C2E0"/>
                </a:solidFill>
              </a:rPr>
              <a:t>Write Up
Methodology</a:t>
            </a:r>
          </a:p>
        </p:txBody>
      </p:sp>
      <p:sp>
        <p:nvSpPr>
          <p:cNvPr id="20" name="TextBox 19"/>
          <p:cNvSpPr txBox="1"/>
          <p:nvPr/>
        </p:nvSpPr>
        <p:spPr>
          <a:xfrm>
            <a:off x="6400800" y="5468112"/>
            <a:ext cx="4572000" cy="475488"/>
          </a:xfrm>
          <a:prstGeom prst="rect">
            <a:avLst/>
          </a:prstGeom>
          <a:noFill/>
        </p:spPr>
        <p:txBody>
          <a:bodyPr wrap="square">
            <a:spAutoFit/>
          </a:bodyPr>
          <a:lstStyle/>
          <a:p>
            <a:pPr algn="ctr"/>
            <a:r>
              <a:rPr sz="1200" b="0" i="1">
                <a:solidFill>
                  <a:srgbClr val="B8D8F0"/>
                </a:solidFill>
              </a:rPr>
              <a:t>Thesis chapter
prep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